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Source Sans 3" panose="020B0303030403020204" pitchFamily="34" charset="0"/>
      <p:regular r:id="rId20"/>
      <p:bold r:id="rId21"/>
      <p:italic r:id="rId22"/>
      <p:boldItalic r:id="rId23"/>
    </p:embeddedFont>
    <p:embeddedFont>
      <p:font typeface="Source Sans 3 ExtraBold" panose="020B0303030403020204"/>
      <p:bold r:id="rId24"/>
      <p:italic r:id="rId25"/>
      <p:boldItalic r:id="rId26"/>
    </p:embeddedFont>
    <p:embeddedFont>
      <p:font typeface="Source Serif 4 ExtraBold" panose="02040603050405020204"/>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432"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fb45370cf2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fb45370cf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fb45370cf2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fb45370cf2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fb45370cf2_0_2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fb45370cf2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fb45370cf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fb45370c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b45370cf2_0_3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b45370cf2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fb45370cf2_0_3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fb45370cf2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fb45370cf2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fb45370cf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fb45370cf2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fb45370cf2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b45370cf2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b45370cf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fb45370cf2_0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fb45370cf2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b45370cf2_0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fb45370cf2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fb45370cf2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fb45370cf2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fb45370cf2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fb45370cf2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fb45370cf2_0_3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fb45370cf2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fb45370cf2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fb45370cf2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fb45370cf2_0_3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fb45370cf2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CCmTY0PKGD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www.youtube.com/watch?v=CCmTY0PKGDs" TargetMode="Externa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nytimes.com/interactive/2021/03/02/climate/atlantic-ocean-climate-change.html" TargetMode="Externa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global domain regional domain X X (4).png"/>
          <p:cNvPicPr preferRelativeResize="0"/>
          <p:nvPr/>
        </p:nvPicPr>
        <p:blipFill>
          <a:blip r:embed="rId3">
            <a:alphaModFix/>
          </a:blip>
          <a:stretch>
            <a:fillRect/>
          </a:stretch>
        </p:blipFill>
        <p:spPr>
          <a:xfrm>
            <a:off x="152400" y="1045526"/>
            <a:ext cx="7207677" cy="3945549"/>
          </a:xfrm>
          <a:prstGeom prst="rect">
            <a:avLst/>
          </a:prstGeom>
          <a:noFill/>
          <a:ln>
            <a:noFill/>
          </a:ln>
        </p:spPr>
      </p:pic>
      <p:sp>
        <p:nvSpPr>
          <p:cNvPr id="55" name="Google Shape;55;p13"/>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Welcome!</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cxnSp>
        <p:nvCxnSpPr>
          <p:cNvPr id="56" name="Google Shape;56;p13"/>
          <p:cNvCxnSpPr/>
          <p:nvPr/>
        </p:nvCxnSpPr>
        <p:spPr>
          <a:xfrm rot="10800000">
            <a:off x="7185450" y="2067900"/>
            <a:ext cx="1333500" cy="0"/>
          </a:xfrm>
          <a:prstGeom prst="straightConnector1">
            <a:avLst/>
          </a:prstGeom>
          <a:noFill/>
          <a:ln w="38100" cap="flat" cmpd="sng">
            <a:solidFill>
              <a:srgbClr val="0000FF"/>
            </a:solidFill>
            <a:prstDash val="solid"/>
            <a:round/>
            <a:headEnd type="none" w="med" len="med"/>
            <a:tailEnd type="triangl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Algebra Warm-Up</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pic>
        <p:nvPicPr>
          <p:cNvPr id="62" name="Google Shape;62;p14" title="global domain regional domain X X (2).png"/>
          <p:cNvPicPr preferRelativeResize="0"/>
          <p:nvPr/>
        </p:nvPicPr>
        <p:blipFill rotWithShape="1">
          <a:blip r:embed="rId3">
            <a:alphaModFix/>
          </a:blip>
          <a:srcRect t="6446"/>
          <a:stretch/>
        </p:blipFill>
        <p:spPr>
          <a:xfrm>
            <a:off x="83125" y="621325"/>
            <a:ext cx="8719950" cy="3900850"/>
          </a:xfrm>
          <a:prstGeom prst="rect">
            <a:avLst/>
          </a:prstGeom>
          <a:noFill/>
          <a:ln>
            <a:noFill/>
          </a:ln>
        </p:spPr>
      </p:pic>
      <p:pic>
        <p:nvPicPr>
          <p:cNvPr id="63" name="Google Shape;63;p14" title="global domain regional domain X X (15).png"/>
          <p:cNvPicPr preferRelativeResize="0"/>
          <p:nvPr/>
        </p:nvPicPr>
        <p:blipFill>
          <a:blip r:embed="rId4">
            <a:alphaModFix/>
          </a:blip>
          <a:stretch>
            <a:fillRect/>
          </a:stretch>
        </p:blipFill>
        <p:spPr>
          <a:xfrm>
            <a:off x="7241026" y="3419951"/>
            <a:ext cx="1562051" cy="1562051"/>
          </a:xfrm>
          <a:prstGeom prst="rect">
            <a:avLst/>
          </a:prstGeom>
          <a:noFill/>
          <a:ln>
            <a:noFill/>
          </a:ln>
        </p:spPr>
      </p:pic>
      <p:sp>
        <p:nvSpPr>
          <p:cNvPr id="64" name="Google Shape;64;p14"/>
          <p:cNvSpPr txBox="1"/>
          <p:nvPr/>
        </p:nvSpPr>
        <p:spPr>
          <a:xfrm>
            <a:off x="7303663" y="3132575"/>
            <a:ext cx="1499400" cy="369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200">
                <a:solidFill>
                  <a:schemeClr val="dk1"/>
                </a:solidFill>
                <a:latin typeface="Source Sans 3 ExtraBold"/>
                <a:ea typeface="Source Sans 3 ExtraBold"/>
                <a:cs typeface="Source Sans 3 ExtraBold"/>
                <a:sym typeface="Source Sans 3 ExtraBold"/>
              </a:rPr>
              <a:t>Partial solutions:</a:t>
            </a:r>
            <a:endParaRPr sz="1200">
              <a:solidFill>
                <a:schemeClr val="dk1"/>
              </a:solidFill>
              <a:latin typeface="Source Sans 3 ExtraBold"/>
              <a:ea typeface="Source Sans 3 ExtraBold"/>
              <a:cs typeface="Source Sans 3 ExtraBold"/>
              <a:sym typeface="Source Sans 3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p:nvPr/>
        </p:nvSpPr>
        <p:spPr>
          <a:xfrm>
            <a:off x="545250" y="1186500"/>
            <a:ext cx="8053500" cy="2770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chemeClr val="dk1"/>
                </a:solidFill>
                <a:latin typeface="Source Serif 4 ExtraBold"/>
                <a:ea typeface="Source Serif 4 ExtraBold"/>
                <a:cs typeface="Source Serif 4 ExtraBold"/>
                <a:sym typeface="Source Serif 4 ExtraBold"/>
              </a:rPr>
              <a:t>In groups of 2-3, brainstorm a 60 second science elevator pitch. You could describe the research you’re planning to do, previous work, or anything else ‘science-y’. </a:t>
            </a:r>
            <a:endParaRPr sz="2400">
              <a:solidFill>
                <a:schemeClr val="dk1"/>
              </a:solidFill>
              <a:latin typeface="Source Serif 4 ExtraBold"/>
              <a:ea typeface="Source Serif 4 ExtraBold"/>
              <a:cs typeface="Source Serif 4 ExtraBold"/>
              <a:sym typeface="Source Serif 4 ExtraBold"/>
            </a:endParaRPr>
          </a:p>
          <a:p>
            <a:pPr marL="0" lvl="0" indent="0" algn="ctr" rtl="0">
              <a:spcBef>
                <a:spcPts val="0"/>
              </a:spcBef>
              <a:spcAft>
                <a:spcPts val="0"/>
              </a:spcAft>
              <a:buNone/>
            </a:pPr>
            <a:endParaRPr sz="2400">
              <a:solidFill>
                <a:schemeClr val="dk1"/>
              </a:solidFill>
              <a:latin typeface="Source Sans 3 ExtraBold"/>
              <a:ea typeface="Source Sans 3 ExtraBold"/>
              <a:cs typeface="Source Sans 3 ExtraBold"/>
              <a:sym typeface="Source Sans 3 ExtraBold"/>
            </a:endParaRPr>
          </a:p>
          <a:p>
            <a:pPr marL="0" lvl="0" indent="0" algn="ctr" rtl="0">
              <a:spcBef>
                <a:spcPts val="0"/>
              </a:spcBef>
              <a:spcAft>
                <a:spcPts val="0"/>
              </a:spcAft>
              <a:buNone/>
            </a:pPr>
            <a:r>
              <a:rPr lang="en" sz="2400">
                <a:solidFill>
                  <a:schemeClr val="dk1"/>
                </a:solidFill>
                <a:latin typeface="Source Serif 4 ExtraBold"/>
                <a:ea typeface="Source Serif 4 ExtraBold"/>
                <a:cs typeface="Source Serif 4 ExtraBold"/>
                <a:sym typeface="Source Serif 4 ExtraBold"/>
              </a:rPr>
              <a:t>But! You have to pretend like you’re explaining to a group of first graders…</a:t>
            </a:r>
            <a:endParaRPr sz="2400">
              <a:solidFill>
                <a:schemeClr val="dk1"/>
              </a:solidFill>
              <a:latin typeface="Source Serif 4 ExtraBold"/>
              <a:ea typeface="Source Serif 4 ExtraBold"/>
              <a:cs typeface="Source Serif 4 ExtraBold"/>
              <a:sym typeface="Source Serif 4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grpSp>
        <p:nvGrpSpPr>
          <p:cNvPr id="74" name="Google Shape;74;p16"/>
          <p:cNvGrpSpPr/>
          <p:nvPr/>
        </p:nvGrpSpPr>
        <p:grpSpPr>
          <a:xfrm>
            <a:off x="572475" y="437829"/>
            <a:ext cx="6777493" cy="4588146"/>
            <a:chOff x="572475" y="437829"/>
            <a:chExt cx="6777493" cy="4588146"/>
          </a:xfrm>
        </p:grpSpPr>
        <p:pic>
          <p:nvPicPr>
            <p:cNvPr id="75" name="Google Shape;75;p16" title="global domain regional domain X X (5).png"/>
            <p:cNvPicPr preferRelativeResize="0"/>
            <p:nvPr/>
          </p:nvPicPr>
          <p:blipFill rotWithShape="1">
            <a:blip r:embed="rId3">
              <a:alphaModFix/>
            </a:blip>
            <a:srcRect b="65699"/>
            <a:stretch/>
          </p:blipFill>
          <p:spPr>
            <a:xfrm>
              <a:off x="1926569" y="1361393"/>
              <a:ext cx="5423399" cy="622025"/>
            </a:xfrm>
            <a:prstGeom prst="rect">
              <a:avLst/>
            </a:prstGeom>
            <a:noFill/>
            <a:ln>
              <a:noFill/>
            </a:ln>
          </p:spPr>
        </p:pic>
        <p:pic>
          <p:nvPicPr>
            <p:cNvPr id="76" name="Google Shape;76;p16" title="global domain regional domain X X (7).png"/>
            <p:cNvPicPr preferRelativeResize="0"/>
            <p:nvPr/>
          </p:nvPicPr>
          <p:blipFill rotWithShape="1">
            <a:blip r:embed="rId4">
              <a:alphaModFix/>
            </a:blip>
            <a:srcRect t="19233" b="35159"/>
            <a:stretch/>
          </p:blipFill>
          <p:spPr>
            <a:xfrm>
              <a:off x="1794013" y="4189163"/>
              <a:ext cx="5423399" cy="812425"/>
            </a:xfrm>
            <a:prstGeom prst="rect">
              <a:avLst/>
            </a:prstGeom>
            <a:noFill/>
            <a:ln>
              <a:noFill/>
            </a:ln>
          </p:spPr>
        </p:pic>
        <p:grpSp>
          <p:nvGrpSpPr>
            <p:cNvPr id="77" name="Google Shape;77;p16"/>
            <p:cNvGrpSpPr/>
            <p:nvPr/>
          </p:nvGrpSpPr>
          <p:grpSpPr>
            <a:xfrm>
              <a:off x="4059476" y="437829"/>
              <a:ext cx="892468" cy="3824433"/>
              <a:chOff x="629734" y="166989"/>
              <a:chExt cx="1019264" cy="4539386"/>
            </a:xfrm>
          </p:grpSpPr>
          <p:sp>
            <p:nvSpPr>
              <p:cNvPr id="78" name="Google Shape;78;p16"/>
              <p:cNvSpPr/>
              <p:nvPr/>
            </p:nvSpPr>
            <p:spPr>
              <a:xfrm>
                <a:off x="902875" y="1703800"/>
                <a:ext cx="472971" cy="3002575"/>
              </a:xfrm>
              <a:custGeom>
                <a:avLst/>
                <a:gdLst/>
                <a:ahLst/>
                <a:cxnLst/>
                <a:rect l="l" t="t" r="r" b="b"/>
                <a:pathLst>
                  <a:path w="28195" h="92715" extrusionOk="0">
                    <a:moveTo>
                      <a:pt x="13255" y="0"/>
                    </a:moveTo>
                    <a:cubicBezTo>
                      <a:pt x="15698" y="4461"/>
                      <a:pt x="30087" y="17152"/>
                      <a:pt x="27910" y="26763"/>
                    </a:cubicBezTo>
                    <a:cubicBezTo>
                      <a:pt x="25733" y="36374"/>
                      <a:pt x="1732" y="46676"/>
                      <a:pt x="192" y="57668"/>
                    </a:cubicBezTo>
                    <a:cubicBezTo>
                      <a:pt x="-1348" y="68660"/>
                      <a:pt x="15591" y="86874"/>
                      <a:pt x="18671" y="92715"/>
                    </a:cubicBezTo>
                  </a:path>
                </a:pathLst>
              </a:custGeom>
              <a:noFill/>
              <a:ln w="8350" cap="flat" cmpd="sng">
                <a:solidFill>
                  <a:srgbClr val="595959"/>
                </a:solidFill>
                <a:prstDash val="solid"/>
                <a:round/>
                <a:headEnd type="none" w="med" len="med"/>
                <a:tailEnd type="none" w="med" len="med"/>
              </a:ln>
            </p:spPr>
            <p:txBody>
              <a:bodyPr/>
              <a:lstStyle/>
              <a:p>
                <a:endParaRPr lang="en-US"/>
              </a:p>
            </p:txBody>
          </p:sp>
          <p:grpSp>
            <p:nvGrpSpPr>
              <p:cNvPr id="79" name="Google Shape;79;p16"/>
              <p:cNvGrpSpPr/>
              <p:nvPr/>
            </p:nvGrpSpPr>
            <p:grpSpPr>
              <a:xfrm>
                <a:off x="629734" y="166989"/>
                <a:ext cx="1019264" cy="1536821"/>
                <a:chOff x="2081000" y="665275"/>
                <a:chExt cx="1386000" cy="2089775"/>
              </a:xfrm>
            </p:grpSpPr>
            <p:sp>
              <p:nvSpPr>
                <p:cNvPr id="80" name="Google Shape;80;p16"/>
                <p:cNvSpPr/>
                <p:nvPr/>
              </p:nvSpPr>
              <p:spPr>
                <a:xfrm>
                  <a:off x="2081000" y="665275"/>
                  <a:ext cx="1386000" cy="1906500"/>
                </a:xfrm>
                <a:prstGeom prst="ellipse">
                  <a:avLst/>
                </a:prstGeom>
                <a:solidFill>
                  <a:srgbClr val="FF0000"/>
                </a:solidFill>
                <a:ln w="6125" cap="flat" cmpd="sng">
                  <a:solidFill>
                    <a:srgbClr val="FF0000"/>
                  </a:solidFill>
                  <a:prstDash val="solid"/>
                  <a:round/>
                  <a:headEnd type="none" w="sm" len="sm"/>
                  <a:tailEnd type="none" w="sm" len="sm"/>
                </a:ln>
              </p:spPr>
              <p:txBody>
                <a:bodyPr spcFirstLastPara="1" wrap="square" lIns="58850" tIns="58850" rIns="58850" bIns="58850" anchor="ctr" anchorCtr="0">
                  <a:noAutofit/>
                </a:bodyPr>
                <a:lstStyle/>
                <a:p>
                  <a:pPr marL="0" lvl="0" indent="0" algn="ctr" rtl="0">
                    <a:spcBef>
                      <a:spcPts val="0"/>
                    </a:spcBef>
                    <a:spcAft>
                      <a:spcPts val="0"/>
                    </a:spcAft>
                    <a:buNone/>
                  </a:pPr>
                  <a:endParaRPr sz="901"/>
                </a:p>
              </p:txBody>
            </p:sp>
            <p:sp>
              <p:nvSpPr>
                <p:cNvPr id="81" name="Google Shape;81;p16"/>
                <p:cNvSpPr/>
                <p:nvPr/>
              </p:nvSpPr>
              <p:spPr>
                <a:xfrm>
                  <a:off x="2658485" y="2571750"/>
                  <a:ext cx="215100" cy="183300"/>
                </a:xfrm>
                <a:prstGeom prst="triangle">
                  <a:avLst>
                    <a:gd name="adj" fmla="val 50000"/>
                  </a:avLst>
                </a:prstGeom>
                <a:solidFill>
                  <a:srgbClr val="FF0000"/>
                </a:solidFill>
                <a:ln w="6125" cap="flat" cmpd="sng">
                  <a:solidFill>
                    <a:srgbClr val="FF0000"/>
                  </a:solidFill>
                  <a:prstDash val="solid"/>
                  <a:round/>
                  <a:headEnd type="none" w="sm" len="sm"/>
                  <a:tailEnd type="none" w="sm" len="sm"/>
                </a:ln>
              </p:spPr>
              <p:txBody>
                <a:bodyPr spcFirstLastPara="1" wrap="square" lIns="58850" tIns="58850" rIns="58850" bIns="58850" anchor="ctr" anchorCtr="0">
                  <a:noAutofit/>
                </a:bodyPr>
                <a:lstStyle/>
                <a:p>
                  <a:pPr marL="0" lvl="0" indent="0" algn="ctr" rtl="0">
                    <a:spcBef>
                      <a:spcPts val="0"/>
                    </a:spcBef>
                    <a:spcAft>
                      <a:spcPts val="0"/>
                    </a:spcAft>
                    <a:buNone/>
                  </a:pPr>
                  <a:endParaRPr sz="901"/>
                </a:p>
              </p:txBody>
            </p:sp>
          </p:grpSp>
        </p:grpSp>
        <p:pic>
          <p:nvPicPr>
            <p:cNvPr id="82" name="Google Shape;82;p16" title="global domain regional domain X X (10).png"/>
            <p:cNvPicPr preferRelativeResize="0"/>
            <p:nvPr/>
          </p:nvPicPr>
          <p:blipFill rotWithShape="1">
            <a:blip r:embed="rId5">
              <a:alphaModFix/>
            </a:blip>
            <a:srcRect r="22499"/>
            <a:stretch/>
          </p:blipFill>
          <p:spPr>
            <a:xfrm>
              <a:off x="5785350" y="3810250"/>
              <a:ext cx="939249" cy="571950"/>
            </a:xfrm>
            <a:prstGeom prst="rect">
              <a:avLst/>
            </a:prstGeom>
            <a:noFill/>
            <a:ln>
              <a:noFill/>
            </a:ln>
          </p:spPr>
        </p:pic>
        <p:pic>
          <p:nvPicPr>
            <p:cNvPr id="83" name="Google Shape;83;p16" title="global domain regional domain X X (11).png"/>
            <p:cNvPicPr preferRelativeResize="0"/>
            <p:nvPr/>
          </p:nvPicPr>
          <p:blipFill>
            <a:blip r:embed="rId6">
              <a:alphaModFix/>
            </a:blip>
            <a:stretch>
              <a:fillRect/>
            </a:stretch>
          </p:blipFill>
          <p:spPr>
            <a:xfrm>
              <a:off x="3916274" y="4164776"/>
              <a:ext cx="694576" cy="861199"/>
            </a:xfrm>
            <a:prstGeom prst="rect">
              <a:avLst/>
            </a:prstGeom>
            <a:noFill/>
            <a:ln>
              <a:noFill/>
            </a:ln>
          </p:spPr>
        </p:pic>
        <p:pic>
          <p:nvPicPr>
            <p:cNvPr id="84" name="Google Shape;84;p16" title="global domain regional domain X X (12).png"/>
            <p:cNvPicPr preferRelativeResize="0"/>
            <p:nvPr/>
          </p:nvPicPr>
          <p:blipFill>
            <a:blip r:embed="rId7">
              <a:alphaModFix/>
            </a:blip>
            <a:stretch>
              <a:fillRect/>
            </a:stretch>
          </p:blipFill>
          <p:spPr>
            <a:xfrm>
              <a:off x="572475" y="1622210"/>
              <a:ext cx="1093149" cy="989855"/>
            </a:xfrm>
            <a:prstGeom prst="rect">
              <a:avLst/>
            </a:prstGeom>
            <a:noFill/>
            <a:ln>
              <a:noFill/>
            </a:ln>
          </p:spPr>
        </p:pic>
        <p:sp>
          <p:nvSpPr>
            <p:cNvPr id="85" name="Google Shape;85;p16"/>
            <p:cNvSpPr/>
            <p:nvPr/>
          </p:nvSpPr>
          <p:spPr>
            <a:xfrm>
              <a:off x="4572000" y="2099650"/>
              <a:ext cx="224100" cy="223800"/>
            </a:xfrm>
            <a:prstGeom prst="diamond">
              <a:avLst/>
            </a:prstGeom>
            <a:solidFill>
              <a:srgbClr val="00FF00"/>
            </a:solidFill>
            <a:ln w="952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 name="Google Shape;86;p16"/>
            <p:cNvSpPr/>
            <p:nvPr/>
          </p:nvSpPr>
          <p:spPr>
            <a:xfrm>
              <a:off x="4393660" y="2781600"/>
              <a:ext cx="224100" cy="193800"/>
            </a:xfrm>
            <a:prstGeom prst="triangle">
              <a:avLst>
                <a:gd name="adj" fmla="val 5000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16"/>
            <p:cNvSpPr/>
            <p:nvPr/>
          </p:nvSpPr>
          <p:spPr>
            <a:xfrm>
              <a:off x="4292350" y="3671847"/>
              <a:ext cx="224100" cy="213000"/>
            </a:xfrm>
            <a:prstGeom prst="pentagon">
              <a:avLst>
                <a:gd name="hf" fmla="val 105146"/>
                <a:gd name="vf" fmla="val 110557"/>
              </a:avLst>
            </a:prstGeom>
            <a:solidFill>
              <a:srgbClr val="FF00FF"/>
            </a:solid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88" name="Google Shape;88;p16"/>
            <p:cNvCxnSpPr>
              <a:endCxn id="86" idx="1"/>
            </p:cNvCxnSpPr>
            <p:nvPr/>
          </p:nvCxnSpPr>
          <p:spPr>
            <a:xfrm>
              <a:off x="1665685" y="2132400"/>
              <a:ext cx="2784000" cy="74610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7" descr="This visualization shows ocean surface currents around the world during the period from June 2005 through Decemeber 2007. The visualization does not include a narration or annotations; the goal was to use ocean flow data to create a simple, visceral experience.&#10;&#10;This visualization was produced using NASA/JPL's computational model called Estimating the Circulation and Climate of the Ocean, Phase II or ECCO2.. ECCO2 is high resolution model of the global ocean and sea-ice. ECCO2 attempts to model the oceans and sea ice to increasingly accurate resolutions that begin to resolve ocean eddies and other narrow-current systems which transport heat and carbon in the oceans.The ECCO2 model simulates ocean flows at all depths, but only surface flows are used in this visualization. The dark patterns under the ocean represent the undersea bathymetry. Topographic land exaggeration is 20x and bathymetric exaggeration is 40x. &#10;&#10;This video is public domain and can be downloaded at: http://svs.gsfc.nasa.gov/vis/a000000/a003800/a003827/index.html&#10;&#10;Like our videos? Subscribe to NASA's Goddard Shorts HD podcast:&#10;http://svs.gsfc.nasa.gov/vis/iTunes/f0004_index.html&#10;&#10;Or find NASA Goddard Space Flight Center on Facebook:&#10;http://www.facebook.com/NASA.GSFC&#10;&#10;Or find us on Twitter:&#10;http://twitter.com/NASAGoddard" title="NASA | Perpetual Ocean">
            <a:hlinkClick r:id="rId3"/>
          </p:cNvPr>
          <p:cNvPicPr preferRelativeResize="0"/>
          <p:nvPr/>
        </p:nvPicPr>
        <p:blipFill>
          <a:blip r:embed="rId4">
            <a:alphaModFix/>
          </a:blip>
          <a:stretch>
            <a:fillRect/>
          </a:stretch>
        </p:blipFill>
        <p:spPr>
          <a:xfrm>
            <a:off x="895998" y="642600"/>
            <a:ext cx="7352000" cy="4135500"/>
          </a:xfrm>
          <a:prstGeom prst="rect">
            <a:avLst/>
          </a:prstGeom>
          <a:noFill/>
          <a:ln>
            <a:noFill/>
          </a:ln>
        </p:spPr>
      </p:pic>
      <p:sp>
        <p:nvSpPr>
          <p:cNvPr id="94" name="Google Shape;94;p17"/>
          <p:cNvSpPr txBox="1"/>
          <p:nvPr/>
        </p:nvSpPr>
        <p:spPr>
          <a:xfrm>
            <a:off x="6534700" y="4866600"/>
            <a:ext cx="2215500" cy="2769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Clr>
                <a:srgbClr val="000000"/>
              </a:buClr>
              <a:buSzPts val="1500"/>
              <a:buFont typeface="Arial"/>
              <a:buNone/>
            </a:pPr>
            <a:r>
              <a:rPr lang="en" sz="600" b="1" u="sng">
                <a:solidFill>
                  <a:schemeClr val="hlink"/>
                </a:solidFill>
                <a:hlinkClick r:id="rId5"/>
              </a:rPr>
              <a:t>https://www.youtube.com/watch?v=CCmTY0PKGDs</a:t>
            </a:r>
            <a:endParaRPr sz="600" b="1">
              <a:solidFill>
                <a:srgbClr val="272B39"/>
              </a:solidFill>
              <a:latin typeface="Source Sans 3"/>
              <a:ea typeface="Source Sans 3"/>
              <a:cs typeface="Source Sans 3"/>
              <a:sym typeface="Source Sans 3"/>
            </a:endParaRPr>
          </a:p>
        </p:txBody>
      </p:sp>
      <p:sp>
        <p:nvSpPr>
          <p:cNvPr id="95" name="Google Shape;95;p17"/>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What’s Physical Oceanography?</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fade">
                                      <p:cBhvr>
                                        <p:cTn id="7" dur="10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The Ocean as a Stratified Fluid</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sp>
        <p:nvSpPr>
          <p:cNvPr id="101" name="Google Shape;101;p18"/>
          <p:cNvSpPr txBox="1"/>
          <p:nvPr/>
        </p:nvSpPr>
        <p:spPr>
          <a:xfrm>
            <a:off x="83125" y="468300"/>
            <a:ext cx="8737500" cy="1416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The ocean is a stratified (i.e. layered) fluid. This means:</a:t>
            </a:r>
            <a:endParaRPr sz="1600">
              <a:solidFill>
                <a:schemeClr val="dk1"/>
              </a:solidFill>
              <a:latin typeface="Source Sans 3 ExtraBold"/>
              <a:ea typeface="Source Sans 3 ExtraBold"/>
              <a:cs typeface="Source Sans 3 ExtraBold"/>
              <a:sym typeface="Source Sans 3 ExtraBold"/>
            </a:endParaRPr>
          </a:p>
          <a:p>
            <a:pPr marL="457200" marR="0" lvl="0" indent="-330200" algn="l" rtl="0">
              <a:lnSpc>
                <a:spcPct val="100000"/>
              </a:lnSpc>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 depth of each ocean layer is determined by its density; denser seawater lives deeper in the ocean, and less dense seawater exists closer to the surface </a:t>
            </a:r>
            <a:endParaRPr sz="1600">
              <a:solidFill>
                <a:schemeClr val="dk1"/>
              </a:solidFill>
              <a:latin typeface="Source Sans 3 ExtraBold"/>
              <a:ea typeface="Source Sans 3 ExtraBold"/>
              <a:cs typeface="Source Sans 3 ExtraBold"/>
              <a:sym typeface="Source Sans 3 ExtraBold"/>
            </a:endParaRPr>
          </a:p>
          <a:p>
            <a:pPr marL="457200" marR="0" lvl="0" indent="-330200" algn="l" rtl="0">
              <a:lnSpc>
                <a:spcPct val="100000"/>
              </a:lnSpc>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Seawater density is determined by its temperature, salinity, and pressure </a:t>
            </a:r>
            <a:endParaRPr sz="1600">
              <a:solidFill>
                <a:schemeClr val="dk1"/>
              </a:solidFill>
              <a:latin typeface="Source Sans 3 ExtraBold"/>
              <a:ea typeface="Source Sans 3 ExtraBold"/>
              <a:cs typeface="Source Sans 3 ExtraBold"/>
              <a:sym typeface="Source Sans 3 ExtraBold"/>
            </a:endParaRPr>
          </a:p>
          <a:p>
            <a:pPr marL="457200" marR="0" lvl="0" indent="-330200" algn="l" rtl="0">
              <a:lnSpc>
                <a:spcPct val="100000"/>
              </a:lnSpc>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In general, colder and saltier water is denser than warmer and fresher water</a:t>
            </a:r>
            <a:endParaRPr sz="1600">
              <a:solidFill>
                <a:schemeClr val="dk1"/>
              </a:solidFill>
              <a:latin typeface="Source Sans 3 ExtraBold"/>
              <a:ea typeface="Source Sans 3 ExtraBold"/>
              <a:cs typeface="Source Sans 3 ExtraBold"/>
              <a:sym typeface="Source Sans 3 ExtraBold"/>
            </a:endParaRPr>
          </a:p>
        </p:txBody>
      </p:sp>
      <p:pic>
        <p:nvPicPr>
          <p:cNvPr id="102" name="Google Shape;102;p18" title="global domain regional domain X X (14).png"/>
          <p:cNvPicPr preferRelativeResize="0"/>
          <p:nvPr/>
        </p:nvPicPr>
        <p:blipFill rotWithShape="1">
          <a:blip r:embed="rId3">
            <a:alphaModFix/>
          </a:blip>
          <a:srcRect l="17549" t="25508" r="15034" b="7593"/>
          <a:stretch/>
        </p:blipFill>
        <p:spPr>
          <a:xfrm>
            <a:off x="3281100" y="1962550"/>
            <a:ext cx="2341549" cy="2915224"/>
          </a:xfrm>
          <a:prstGeom prst="rect">
            <a:avLst/>
          </a:prstGeom>
          <a:noFill/>
          <a:ln>
            <a:noFill/>
          </a:ln>
        </p:spPr>
      </p:pic>
      <p:sp>
        <p:nvSpPr>
          <p:cNvPr id="103" name="Google Shape;103;p18"/>
          <p:cNvSpPr txBox="1"/>
          <p:nvPr/>
        </p:nvSpPr>
        <p:spPr>
          <a:xfrm>
            <a:off x="6590100" y="4774200"/>
            <a:ext cx="2553900" cy="369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Clr>
                <a:srgbClr val="000000"/>
              </a:buClr>
              <a:buSzPts val="1500"/>
              <a:buFont typeface="Arial"/>
              <a:buNone/>
            </a:pPr>
            <a:r>
              <a:rPr lang="en" sz="600" b="1">
                <a:solidFill>
                  <a:srgbClr val="595959"/>
                </a:solidFill>
              </a:rPr>
              <a:t>Fig credit: </a:t>
            </a:r>
            <a:endParaRPr sz="600" b="1">
              <a:solidFill>
                <a:srgbClr val="595959"/>
              </a:solidFill>
            </a:endParaRPr>
          </a:p>
          <a:p>
            <a:pPr marL="0" lvl="0" indent="0" algn="r" rtl="0">
              <a:spcBef>
                <a:spcPts val="0"/>
              </a:spcBef>
              <a:spcAft>
                <a:spcPts val="0"/>
              </a:spcAft>
              <a:buClr>
                <a:srgbClr val="000000"/>
              </a:buClr>
              <a:buSzPts val="1500"/>
              <a:buFont typeface="Arial"/>
              <a:buNone/>
            </a:pPr>
            <a:r>
              <a:rPr lang="en" sz="600" b="1">
                <a:solidFill>
                  <a:srgbClr val="595959"/>
                </a:solidFill>
              </a:rPr>
              <a:t>https://www.instagram.com/p/DJOkuoRoWr2/</a:t>
            </a:r>
            <a:endParaRPr sz="600" b="1">
              <a:solidFill>
                <a:srgbClr val="272B39"/>
              </a:solidFill>
              <a:latin typeface="Source Sans 3"/>
              <a:ea typeface="Source Sans 3"/>
              <a:cs typeface="Source Sans 3"/>
              <a:sym typeface="Source Sans 3"/>
            </a:endParaRPr>
          </a:p>
        </p:txBody>
      </p:sp>
      <p:sp>
        <p:nvSpPr>
          <p:cNvPr id="104" name="Google Shape;104;p18"/>
          <p:cNvSpPr txBox="1"/>
          <p:nvPr/>
        </p:nvSpPr>
        <p:spPr>
          <a:xfrm>
            <a:off x="5694150" y="3081600"/>
            <a:ext cx="2086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Ocean = fancy matcha drink!</a:t>
            </a:r>
            <a:endParaRPr sz="1600">
              <a:solidFill>
                <a:schemeClr val="dk1"/>
              </a:solidFill>
              <a:latin typeface="Source Sans 3 ExtraBold"/>
              <a:ea typeface="Source Sans 3 ExtraBold"/>
              <a:cs typeface="Source Sans 3 ExtraBold"/>
              <a:sym typeface="Source Sans 3 Extra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EX. Dimensional Analysis</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sp>
        <p:nvSpPr>
          <p:cNvPr id="110" name="Google Shape;110;p19"/>
          <p:cNvSpPr txBox="1"/>
          <p:nvPr/>
        </p:nvSpPr>
        <p:spPr>
          <a:xfrm>
            <a:off x="83133" y="554100"/>
            <a:ext cx="88011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Question: How many decibars (dbars) of pressure are equivalent to 1 meter of ocean depth?</a:t>
            </a:r>
            <a:endParaRPr sz="1600">
              <a:solidFill>
                <a:schemeClr val="dk1"/>
              </a:solidFill>
              <a:latin typeface="Source Sans 3 ExtraBold"/>
              <a:ea typeface="Source Sans 3 ExtraBold"/>
              <a:cs typeface="Source Sans 3 ExtraBold"/>
              <a:sym typeface="Source Sans 3 ExtraBold"/>
            </a:endParaRPr>
          </a:p>
        </p:txBody>
      </p:sp>
      <p:pic>
        <p:nvPicPr>
          <p:cNvPr id="111" name="Google Shape;111;p19" title="DPO3.2.png"/>
          <p:cNvPicPr preferRelativeResize="0"/>
          <p:nvPr/>
        </p:nvPicPr>
        <p:blipFill>
          <a:blip r:embed="rId3">
            <a:alphaModFix/>
          </a:blip>
          <a:stretch>
            <a:fillRect/>
          </a:stretch>
        </p:blipFill>
        <p:spPr>
          <a:xfrm>
            <a:off x="2194500" y="1082025"/>
            <a:ext cx="4755000" cy="3885175"/>
          </a:xfrm>
          <a:prstGeom prst="rect">
            <a:avLst/>
          </a:prstGeom>
          <a:noFill/>
          <a:ln>
            <a:noFill/>
          </a:ln>
        </p:spPr>
      </p:pic>
      <p:grpSp>
        <p:nvGrpSpPr>
          <p:cNvPr id="112" name="Google Shape;112;p19"/>
          <p:cNvGrpSpPr/>
          <p:nvPr/>
        </p:nvGrpSpPr>
        <p:grpSpPr>
          <a:xfrm>
            <a:off x="6146550" y="1962913"/>
            <a:ext cx="2499300" cy="2123388"/>
            <a:chOff x="6170375" y="1217188"/>
            <a:chExt cx="2499300" cy="2123388"/>
          </a:xfrm>
        </p:grpSpPr>
        <p:sp>
          <p:nvSpPr>
            <p:cNvPr id="113" name="Google Shape;113;p19"/>
            <p:cNvSpPr txBox="1"/>
            <p:nvPr/>
          </p:nvSpPr>
          <p:spPr>
            <a:xfrm>
              <a:off x="6170375" y="1217188"/>
              <a:ext cx="14199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Qualitatively </a:t>
              </a:r>
              <a:endParaRPr sz="1600">
                <a:solidFill>
                  <a:schemeClr val="dk1"/>
                </a:solidFill>
                <a:latin typeface="Source Sans 3 ExtraBold"/>
                <a:ea typeface="Source Sans 3 ExtraBold"/>
                <a:cs typeface="Source Sans 3 ExtraBold"/>
                <a:sym typeface="Source Sans 3 ExtraBold"/>
              </a:endParaRPr>
            </a:p>
            <a:p>
              <a:pPr marL="0" lvl="0" indent="0" algn="l" rtl="0">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Linear</a:t>
              </a:r>
              <a:endParaRPr sz="1600">
                <a:solidFill>
                  <a:schemeClr val="dk1"/>
                </a:solidFill>
                <a:latin typeface="Source Sans 3 ExtraBold"/>
                <a:ea typeface="Source Sans 3 ExtraBold"/>
                <a:cs typeface="Source Sans 3 ExtraBold"/>
                <a:sym typeface="Source Sans 3 ExtraBold"/>
              </a:endParaRPr>
            </a:p>
          </p:txBody>
        </p:sp>
        <p:sp>
          <p:nvSpPr>
            <p:cNvPr id="114" name="Google Shape;114;p19"/>
            <p:cNvSpPr txBox="1"/>
            <p:nvPr/>
          </p:nvSpPr>
          <p:spPr>
            <a:xfrm>
              <a:off x="6170375" y="2909475"/>
              <a:ext cx="2499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Hypothesis: </a:t>
              </a:r>
              <a:endParaRPr sz="1600">
                <a:solidFill>
                  <a:schemeClr val="dk1"/>
                </a:solidFill>
                <a:latin typeface="Source Sans 3 ExtraBold"/>
                <a:ea typeface="Source Sans 3 ExtraBold"/>
                <a:cs typeface="Source Sans 3 ExtraBold"/>
                <a:sym typeface="Source Sans 3 ExtraBold"/>
              </a:endParaRPr>
            </a:p>
          </p:txBody>
        </p:sp>
        <p:pic>
          <p:nvPicPr>
            <p:cNvPr id="115" name="Google Shape;115;p19" title="Screenshot 2026-09-14 at 12.14.49 AM.png"/>
            <p:cNvPicPr preferRelativeResize="0"/>
            <p:nvPr/>
          </p:nvPicPr>
          <p:blipFill>
            <a:blip r:embed="rId4">
              <a:alphaModFix/>
            </a:blip>
            <a:stretch>
              <a:fillRect/>
            </a:stretch>
          </p:blipFill>
          <p:spPr>
            <a:xfrm>
              <a:off x="7430075" y="2992200"/>
              <a:ext cx="692025" cy="265663"/>
            </a:xfrm>
            <a:prstGeom prst="rect">
              <a:avLst/>
            </a:prstGeom>
            <a:noFill/>
            <a:ln>
              <a:noFill/>
            </a:ln>
          </p:spPr>
        </p:pic>
        <p:cxnSp>
          <p:nvCxnSpPr>
            <p:cNvPr id="116" name="Google Shape;116;p19"/>
            <p:cNvCxnSpPr>
              <a:stCxn id="113" idx="2"/>
            </p:cNvCxnSpPr>
            <p:nvPr/>
          </p:nvCxnSpPr>
          <p:spPr>
            <a:xfrm>
              <a:off x="6880325" y="1894288"/>
              <a:ext cx="0" cy="1046700"/>
            </a:xfrm>
            <a:prstGeom prst="straightConnector1">
              <a:avLst/>
            </a:prstGeom>
            <a:noFill/>
            <a:ln w="19050" cap="flat" cmpd="sng">
              <a:solidFill>
                <a:schemeClr val="dk1"/>
              </a:solidFill>
              <a:prstDash val="solid"/>
              <a:round/>
              <a:headEnd type="none" w="med" len="med"/>
              <a:tailEnd type="triangle" w="med" len="med"/>
            </a:ln>
          </p:spPr>
        </p:cxn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0" title="Screenshot 2026-09-13 at 7.49.52 PM.png"/>
          <p:cNvPicPr preferRelativeResize="0"/>
          <p:nvPr/>
        </p:nvPicPr>
        <p:blipFill rotWithShape="1">
          <a:blip r:embed="rId3">
            <a:alphaModFix/>
          </a:blip>
          <a:srcRect b="45702"/>
          <a:stretch/>
        </p:blipFill>
        <p:spPr>
          <a:xfrm>
            <a:off x="420386" y="1329262"/>
            <a:ext cx="4151616" cy="2281500"/>
          </a:xfrm>
          <a:prstGeom prst="rect">
            <a:avLst/>
          </a:prstGeom>
          <a:noFill/>
          <a:ln>
            <a:noFill/>
          </a:ln>
        </p:spPr>
      </p:pic>
      <p:sp>
        <p:nvSpPr>
          <p:cNvPr id="122" name="Google Shape;122;p20"/>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EX. Dimensional Analysis</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pic>
        <p:nvPicPr>
          <p:cNvPr id="123" name="Google Shape;123;p20" title="Screenshot 2026-09-13 at 7.49.52 PM.png"/>
          <p:cNvPicPr preferRelativeResize="0"/>
          <p:nvPr/>
        </p:nvPicPr>
        <p:blipFill rotWithShape="1">
          <a:blip r:embed="rId3">
            <a:alphaModFix/>
          </a:blip>
          <a:srcRect t="60490"/>
          <a:stretch/>
        </p:blipFill>
        <p:spPr>
          <a:xfrm>
            <a:off x="4571992" y="1536005"/>
            <a:ext cx="4151616" cy="1660146"/>
          </a:xfrm>
          <a:prstGeom prst="rect">
            <a:avLst/>
          </a:prstGeom>
          <a:noFill/>
          <a:ln>
            <a:noFill/>
          </a:ln>
        </p:spPr>
      </p:pic>
      <p:sp>
        <p:nvSpPr>
          <p:cNvPr id="124" name="Google Shape;124;p20"/>
          <p:cNvSpPr txBox="1"/>
          <p:nvPr/>
        </p:nvSpPr>
        <p:spPr>
          <a:xfrm>
            <a:off x="83133" y="554100"/>
            <a:ext cx="88011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Question: How many decibars (dbars) of pressure are equivalent to 1 meter of ocean depth?                 </a:t>
            </a:r>
            <a:endParaRPr sz="1600">
              <a:solidFill>
                <a:schemeClr val="dk1"/>
              </a:solidFill>
              <a:latin typeface="Source Sans 3 ExtraBold"/>
              <a:ea typeface="Source Sans 3 ExtraBold"/>
              <a:cs typeface="Source Sans 3 ExtraBold"/>
              <a:sym typeface="Source Sans 3 ExtraBold"/>
            </a:endParaRPr>
          </a:p>
        </p:txBody>
      </p:sp>
      <p:grpSp>
        <p:nvGrpSpPr>
          <p:cNvPr id="125" name="Google Shape;125;p20"/>
          <p:cNvGrpSpPr/>
          <p:nvPr/>
        </p:nvGrpSpPr>
        <p:grpSpPr>
          <a:xfrm>
            <a:off x="203800" y="3811950"/>
            <a:ext cx="5650087" cy="431100"/>
            <a:chOff x="137850" y="1510050"/>
            <a:chExt cx="5650087" cy="431100"/>
          </a:xfrm>
        </p:grpSpPr>
        <p:sp>
          <p:nvSpPr>
            <p:cNvPr id="126" name="Google Shape;126;p20"/>
            <p:cNvSpPr txBox="1"/>
            <p:nvPr/>
          </p:nvSpPr>
          <p:spPr>
            <a:xfrm>
              <a:off x="137850" y="1510050"/>
              <a:ext cx="213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Qualitatively Linear</a:t>
              </a:r>
              <a:endParaRPr sz="1600">
                <a:solidFill>
                  <a:schemeClr val="dk1"/>
                </a:solidFill>
                <a:latin typeface="Source Sans 3 ExtraBold"/>
                <a:ea typeface="Source Sans 3 ExtraBold"/>
                <a:cs typeface="Source Sans 3 ExtraBold"/>
                <a:sym typeface="Source Sans 3 ExtraBold"/>
              </a:endParaRPr>
            </a:p>
          </p:txBody>
        </p:sp>
        <p:grpSp>
          <p:nvGrpSpPr>
            <p:cNvPr id="127" name="Google Shape;127;p20"/>
            <p:cNvGrpSpPr/>
            <p:nvPr/>
          </p:nvGrpSpPr>
          <p:grpSpPr>
            <a:xfrm>
              <a:off x="2973725" y="1510050"/>
              <a:ext cx="1929675" cy="431100"/>
              <a:chOff x="1945850" y="1633050"/>
              <a:chExt cx="1929675" cy="431100"/>
            </a:xfrm>
          </p:grpSpPr>
          <p:sp>
            <p:nvSpPr>
              <p:cNvPr id="128" name="Google Shape;128;p20"/>
              <p:cNvSpPr txBox="1"/>
              <p:nvPr/>
            </p:nvSpPr>
            <p:spPr>
              <a:xfrm>
                <a:off x="1945850" y="1633050"/>
                <a:ext cx="1350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Hypothesis: </a:t>
                </a:r>
                <a:endParaRPr sz="1600">
                  <a:solidFill>
                    <a:schemeClr val="dk1"/>
                  </a:solidFill>
                  <a:latin typeface="Source Sans 3 ExtraBold"/>
                  <a:ea typeface="Source Sans 3 ExtraBold"/>
                  <a:cs typeface="Source Sans 3 ExtraBold"/>
                  <a:sym typeface="Source Sans 3 ExtraBold"/>
                </a:endParaRPr>
              </a:p>
            </p:txBody>
          </p:sp>
          <p:pic>
            <p:nvPicPr>
              <p:cNvPr id="129" name="Google Shape;129;p20" title="Screenshot 2026-09-14 at 12.14.49 AM.png"/>
              <p:cNvPicPr preferRelativeResize="0"/>
              <p:nvPr/>
            </p:nvPicPr>
            <p:blipFill>
              <a:blip r:embed="rId4">
                <a:alphaModFix/>
              </a:blip>
              <a:stretch>
                <a:fillRect/>
              </a:stretch>
            </p:blipFill>
            <p:spPr>
              <a:xfrm>
                <a:off x="3183500" y="1715762"/>
                <a:ext cx="692025" cy="265663"/>
              </a:xfrm>
              <a:prstGeom prst="rect">
                <a:avLst/>
              </a:prstGeom>
              <a:noFill/>
              <a:ln>
                <a:noFill/>
              </a:ln>
            </p:spPr>
          </p:pic>
        </p:grpSp>
        <p:cxnSp>
          <p:nvCxnSpPr>
            <p:cNvPr id="130" name="Google Shape;130;p20"/>
            <p:cNvCxnSpPr/>
            <p:nvPr/>
          </p:nvCxnSpPr>
          <p:spPr>
            <a:xfrm>
              <a:off x="2179062" y="1725600"/>
              <a:ext cx="698400" cy="0"/>
            </a:xfrm>
            <a:prstGeom prst="straightConnector1">
              <a:avLst/>
            </a:prstGeom>
            <a:noFill/>
            <a:ln w="19050" cap="flat" cmpd="sng">
              <a:solidFill>
                <a:schemeClr val="dk1"/>
              </a:solidFill>
              <a:prstDash val="solid"/>
              <a:round/>
              <a:headEnd type="none" w="med" len="med"/>
              <a:tailEnd type="triangle" w="med" len="med"/>
            </a:ln>
          </p:spPr>
        </p:cxnSp>
        <p:cxnSp>
          <p:nvCxnSpPr>
            <p:cNvPr id="131" name="Google Shape;131;p20"/>
            <p:cNvCxnSpPr/>
            <p:nvPr/>
          </p:nvCxnSpPr>
          <p:spPr>
            <a:xfrm>
              <a:off x="5089537" y="1725600"/>
              <a:ext cx="698400" cy="0"/>
            </a:xfrm>
            <a:prstGeom prst="straightConnector1">
              <a:avLst/>
            </a:prstGeom>
            <a:noFill/>
            <a:ln w="19050" cap="flat" cmpd="sng">
              <a:solidFill>
                <a:schemeClr val="dk1"/>
              </a:solidFill>
              <a:prstDash val="solid"/>
              <a:round/>
              <a:headEnd type="none" w="med" len="med"/>
              <a:tailEnd type="triangle" w="med" len="med"/>
            </a:ln>
          </p:spPr>
        </p:cxnSp>
      </p:grpSp>
      <p:sp>
        <p:nvSpPr>
          <p:cNvPr id="132" name="Google Shape;132;p20"/>
          <p:cNvSpPr txBox="1"/>
          <p:nvPr/>
        </p:nvSpPr>
        <p:spPr>
          <a:xfrm>
            <a:off x="203808" y="4209800"/>
            <a:ext cx="88011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600" i="1">
                <a:solidFill>
                  <a:schemeClr val="dk1"/>
                </a:solidFill>
                <a:latin typeface="Source Sans 3 ExtraBold"/>
                <a:ea typeface="Source Sans 3 ExtraBold"/>
                <a:cs typeface="Source Sans 3 ExtraBold"/>
                <a:sym typeface="Source Sans 3 ExtraBold"/>
              </a:rPr>
              <a:t>Hint: Write the units for P and h. What units must κ have (see: Table 1)? Can you build the right κ from constants in Table 2? </a:t>
            </a:r>
            <a:endParaRPr sz="1600" i="1">
              <a:solidFill>
                <a:schemeClr val="dk1"/>
              </a:solidFill>
              <a:latin typeface="Source Sans 3 ExtraBold"/>
              <a:ea typeface="Source Sans 3 ExtraBold"/>
              <a:cs typeface="Source Sans 3 ExtraBold"/>
              <a:sym typeface="Source Sans 3 ExtraBold"/>
            </a:endParaRPr>
          </a:p>
        </p:txBody>
      </p:sp>
      <p:pic>
        <p:nvPicPr>
          <p:cNvPr id="133" name="Google Shape;133;p20" title="Screenshot 2026-09-14 at 11.17.12 AM.png"/>
          <p:cNvPicPr preferRelativeResize="0"/>
          <p:nvPr/>
        </p:nvPicPr>
        <p:blipFill>
          <a:blip r:embed="rId5">
            <a:alphaModFix/>
          </a:blip>
          <a:stretch>
            <a:fillRect/>
          </a:stretch>
        </p:blipFill>
        <p:spPr>
          <a:xfrm>
            <a:off x="5978950" y="3868138"/>
            <a:ext cx="1079501" cy="318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p:nvPr/>
        </p:nvSpPr>
        <p:spPr>
          <a:xfrm>
            <a:off x="5719025" y="1844753"/>
            <a:ext cx="3084000" cy="21549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These profiles are seasonal climatologies from in-situ measurements</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a:t>
            </a:r>
            <a:r>
              <a:rPr lang="en" sz="1600" u="sng">
                <a:solidFill>
                  <a:schemeClr val="dk1"/>
                </a:solidFill>
                <a:latin typeface="Source Sans 3 ExtraBold"/>
                <a:ea typeface="Source Sans 3 ExtraBold"/>
                <a:cs typeface="Source Sans 3 ExtraBold"/>
                <a:sym typeface="Source Sans 3 ExtraBold"/>
              </a:rPr>
              <a:t>Climatology</a:t>
            </a:r>
            <a:r>
              <a:rPr lang="en" sz="1600">
                <a:solidFill>
                  <a:schemeClr val="dk1"/>
                </a:solidFill>
                <a:latin typeface="Source Sans 3 ExtraBold"/>
                <a:ea typeface="Source Sans 3 ExtraBold"/>
                <a:cs typeface="Source Sans 3 ExtraBold"/>
                <a:sym typeface="Source Sans 3 ExtraBold"/>
              </a:rPr>
              <a:t>’ means averaged over some period of time </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a:t>
            </a:r>
            <a:r>
              <a:rPr lang="en" sz="1600" u="sng">
                <a:solidFill>
                  <a:schemeClr val="dk1"/>
                </a:solidFill>
                <a:latin typeface="Source Sans 3 ExtraBold"/>
                <a:ea typeface="Source Sans 3 ExtraBold"/>
                <a:cs typeface="Source Sans 3 ExtraBold"/>
                <a:sym typeface="Source Sans 3 ExtraBold"/>
              </a:rPr>
              <a:t>In-situ</a:t>
            </a:r>
            <a:r>
              <a:rPr lang="en" sz="1600">
                <a:solidFill>
                  <a:schemeClr val="dk1"/>
                </a:solidFill>
                <a:latin typeface="Source Sans 3 ExtraBold"/>
                <a:ea typeface="Source Sans 3 ExtraBold"/>
                <a:cs typeface="Source Sans 3 ExtraBold"/>
                <a:sym typeface="Source Sans 3 ExtraBold"/>
              </a:rPr>
              <a:t>’ means measured in the ocean</a:t>
            </a:r>
            <a:endParaRPr sz="1600">
              <a:solidFill>
                <a:schemeClr val="dk1"/>
              </a:solidFill>
              <a:latin typeface="Source Sans 3 ExtraBold"/>
              <a:ea typeface="Source Sans 3 ExtraBold"/>
              <a:cs typeface="Source Sans 3 ExtraBold"/>
              <a:sym typeface="Source Sans 3 ExtraBold"/>
            </a:endParaRPr>
          </a:p>
        </p:txBody>
      </p:sp>
      <p:pic>
        <p:nvPicPr>
          <p:cNvPr id="139" name="Google Shape;139;p21" title="t_s_profile_20260913.png"/>
          <p:cNvPicPr preferRelativeResize="0"/>
          <p:nvPr/>
        </p:nvPicPr>
        <p:blipFill rotWithShape="1">
          <a:blip r:embed="rId3">
            <a:alphaModFix/>
          </a:blip>
          <a:srcRect r="60838"/>
          <a:stretch/>
        </p:blipFill>
        <p:spPr>
          <a:xfrm>
            <a:off x="3309699" y="925613"/>
            <a:ext cx="2294175" cy="3993199"/>
          </a:xfrm>
          <a:prstGeom prst="rect">
            <a:avLst/>
          </a:prstGeom>
          <a:noFill/>
          <a:ln>
            <a:noFill/>
          </a:ln>
        </p:spPr>
      </p:pic>
      <p:grpSp>
        <p:nvGrpSpPr>
          <p:cNvPr id="140" name="Google Shape;140;p21"/>
          <p:cNvGrpSpPr/>
          <p:nvPr/>
        </p:nvGrpSpPr>
        <p:grpSpPr>
          <a:xfrm>
            <a:off x="340980" y="2009397"/>
            <a:ext cx="2613470" cy="1825627"/>
            <a:chOff x="5091858" y="9946514"/>
            <a:chExt cx="6001080" cy="4192026"/>
          </a:xfrm>
        </p:grpSpPr>
        <p:pic>
          <p:nvPicPr>
            <p:cNvPr id="141" name="Google Shape;141;p21" title="TEST_map.png"/>
            <p:cNvPicPr preferRelativeResize="0"/>
            <p:nvPr/>
          </p:nvPicPr>
          <p:blipFill rotWithShape="1">
            <a:blip r:embed="rId4">
              <a:alphaModFix/>
            </a:blip>
            <a:srcRect l="28207" r="26849"/>
            <a:stretch/>
          </p:blipFill>
          <p:spPr>
            <a:xfrm>
              <a:off x="5091858" y="9946514"/>
              <a:ext cx="6001080" cy="4192026"/>
            </a:xfrm>
            <a:prstGeom prst="rect">
              <a:avLst/>
            </a:prstGeom>
            <a:noFill/>
            <a:ln>
              <a:noFill/>
            </a:ln>
          </p:spPr>
        </p:pic>
        <p:sp>
          <p:nvSpPr>
            <p:cNvPr id="142" name="Google Shape;142;p21"/>
            <p:cNvSpPr txBox="1"/>
            <p:nvPr/>
          </p:nvSpPr>
          <p:spPr>
            <a:xfrm>
              <a:off x="5865034" y="11344290"/>
              <a:ext cx="408600" cy="716700"/>
            </a:xfrm>
            <a:prstGeom prst="rect">
              <a:avLst/>
            </a:prstGeom>
            <a:noFill/>
            <a:ln>
              <a:noFill/>
            </a:ln>
          </p:spPr>
          <p:txBody>
            <a:bodyPr spcFirstLastPara="1" wrap="square" lIns="30300" tIns="30300" rIns="30300" bIns="30300" anchor="ctr" anchorCtr="0">
              <a:noAutofit/>
            </a:bodyPr>
            <a:lstStyle/>
            <a:p>
              <a:pPr marL="0" lvl="0" indent="0" algn="ctr" rtl="0">
                <a:spcBef>
                  <a:spcPts val="0"/>
                </a:spcBef>
                <a:spcAft>
                  <a:spcPts val="0"/>
                </a:spcAft>
                <a:buNone/>
              </a:pPr>
              <a:r>
                <a:rPr lang="en" sz="1067" b="1">
                  <a:solidFill>
                    <a:srgbClr val="FF00FF"/>
                  </a:solidFill>
                </a:rPr>
                <a:t>X</a:t>
              </a:r>
              <a:endParaRPr sz="1067" b="1">
                <a:solidFill>
                  <a:srgbClr val="FF00FF"/>
                </a:solidFill>
              </a:endParaRPr>
            </a:p>
          </p:txBody>
        </p:sp>
      </p:grpSp>
      <p:sp>
        <p:nvSpPr>
          <p:cNvPr id="143" name="Google Shape;143;p21"/>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Anatomy of a Vertical Profile</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grpSp>
        <p:nvGrpSpPr>
          <p:cNvPr id="148" name="Google Shape;148;p22"/>
          <p:cNvGrpSpPr/>
          <p:nvPr/>
        </p:nvGrpSpPr>
        <p:grpSpPr>
          <a:xfrm>
            <a:off x="3442901" y="906608"/>
            <a:ext cx="4293852" cy="3906216"/>
            <a:chOff x="2280201" y="757733"/>
            <a:chExt cx="4293852" cy="3906216"/>
          </a:xfrm>
        </p:grpSpPr>
        <p:pic>
          <p:nvPicPr>
            <p:cNvPr id="149" name="Google Shape;149;p22" title="t_s_profile_zoom.png"/>
            <p:cNvPicPr preferRelativeResize="0"/>
            <p:nvPr/>
          </p:nvPicPr>
          <p:blipFill rotWithShape="1">
            <a:blip r:embed="rId3">
              <a:alphaModFix/>
            </a:blip>
            <a:srcRect r="62536"/>
            <a:stretch/>
          </p:blipFill>
          <p:spPr>
            <a:xfrm>
              <a:off x="2280201" y="757733"/>
              <a:ext cx="4293852" cy="3906216"/>
            </a:xfrm>
            <a:prstGeom prst="rect">
              <a:avLst/>
            </a:prstGeom>
            <a:noFill/>
            <a:ln>
              <a:noFill/>
            </a:ln>
          </p:spPr>
        </p:pic>
        <p:cxnSp>
          <p:nvCxnSpPr>
            <p:cNvPr id="150" name="Google Shape;150;p22"/>
            <p:cNvCxnSpPr/>
            <p:nvPr/>
          </p:nvCxnSpPr>
          <p:spPr>
            <a:xfrm>
              <a:off x="6416233" y="1084195"/>
              <a:ext cx="0" cy="573600"/>
            </a:xfrm>
            <a:prstGeom prst="straightConnector1">
              <a:avLst/>
            </a:prstGeom>
            <a:noFill/>
            <a:ln w="20850" cap="flat" cmpd="sng">
              <a:solidFill>
                <a:srgbClr val="77AC30"/>
              </a:solidFill>
              <a:prstDash val="solid"/>
              <a:round/>
              <a:headEnd type="triangle" w="med" len="med"/>
              <a:tailEnd type="triangle" w="med" len="med"/>
            </a:ln>
          </p:spPr>
        </p:cxnSp>
        <p:cxnSp>
          <p:nvCxnSpPr>
            <p:cNvPr id="151" name="Google Shape;151;p22"/>
            <p:cNvCxnSpPr/>
            <p:nvPr/>
          </p:nvCxnSpPr>
          <p:spPr>
            <a:xfrm>
              <a:off x="4794247" y="1084195"/>
              <a:ext cx="0" cy="958500"/>
            </a:xfrm>
            <a:prstGeom prst="straightConnector1">
              <a:avLst/>
            </a:prstGeom>
            <a:noFill/>
            <a:ln w="20850" cap="flat" cmpd="sng">
              <a:solidFill>
                <a:srgbClr val="7E2F8E"/>
              </a:solidFill>
              <a:prstDash val="solid"/>
              <a:round/>
              <a:headEnd type="triangle" w="med" len="med"/>
              <a:tailEnd type="triangle" w="med" len="med"/>
            </a:ln>
          </p:spPr>
        </p:cxnSp>
      </p:grpSp>
      <p:sp>
        <p:nvSpPr>
          <p:cNvPr id="152" name="Google Shape;152;p22"/>
          <p:cNvSpPr txBox="1"/>
          <p:nvPr/>
        </p:nvSpPr>
        <p:spPr>
          <a:xfrm>
            <a:off x="4614650" y="1514100"/>
            <a:ext cx="1289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7E2F8E"/>
                </a:solidFill>
                <a:latin typeface="Source Sans 3 ExtraBold"/>
                <a:ea typeface="Source Sans 3 ExtraBold"/>
                <a:cs typeface="Source Sans 3 ExtraBold"/>
                <a:sym typeface="Source Sans 3 ExtraBold"/>
              </a:rPr>
              <a:t>Mixed Layer </a:t>
            </a:r>
            <a:endParaRPr sz="1600">
              <a:solidFill>
                <a:srgbClr val="7E2F8E"/>
              </a:solidFill>
              <a:latin typeface="Source Sans 3 ExtraBold"/>
              <a:ea typeface="Source Sans 3 ExtraBold"/>
              <a:cs typeface="Source Sans 3 ExtraBold"/>
              <a:sym typeface="Source Sans 3 ExtraBold"/>
            </a:endParaRPr>
          </a:p>
        </p:txBody>
      </p:sp>
      <p:sp>
        <p:nvSpPr>
          <p:cNvPr id="153" name="Google Shape;153;p22"/>
          <p:cNvSpPr txBox="1"/>
          <p:nvPr/>
        </p:nvSpPr>
        <p:spPr>
          <a:xfrm>
            <a:off x="7736750" y="1289475"/>
            <a:ext cx="1289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77AC30"/>
                </a:solidFill>
                <a:latin typeface="Source Sans 3 ExtraBold"/>
                <a:ea typeface="Source Sans 3 ExtraBold"/>
                <a:cs typeface="Source Sans 3 ExtraBold"/>
                <a:sym typeface="Source Sans 3 ExtraBold"/>
              </a:rPr>
              <a:t>Mixed Layer </a:t>
            </a:r>
            <a:endParaRPr sz="1600">
              <a:solidFill>
                <a:srgbClr val="77AC30"/>
              </a:solidFill>
              <a:latin typeface="Source Sans 3 ExtraBold"/>
              <a:ea typeface="Source Sans 3 ExtraBold"/>
              <a:cs typeface="Source Sans 3 ExtraBold"/>
              <a:sym typeface="Source Sans 3 ExtraBold"/>
            </a:endParaRPr>
          </a:p>
        </p:txBody>
      </p:sp>
      <p:sp>
        <p:nvSpPr>
          <p:cNvPr id="154" name="Google Shape;154;p22"/>
          <p:cNvSpPr txBox="1"/>
          <p:nvPr/>
        </p:nvSpPr>
        <p:spPr>
          <a:xfrm>
            <a:off x="6152825" y="2384450"/>
            <a:ext cx="1485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77AC30"/>
                </a:solidFill>
                <a:latin typeface="Source Sans 3 ExtraBold"/>
                <a:ea typeface="Source Sans 3 ExtraBold"/>
                <a:cs typeface="Source Sans 3 ExtraBold"/>
                <a:sym typeface="Source Sans 3 ExtraBold"/>
              </a:rPr>
              <a:t>Thermocline</a:t>
            </a:r>
            <a:endParaRPr sz="1600">
              <a:solidFill>
                <a:srgbClr val="77AC30"/>
              </a:solidFill>
              <a:latin typeface="Source Sans 3 ExtraBold"/>
              <a:ea typeface="Source Sans 3 ExtraBold"/>
              <a:cs typeface="Source Sans 3 ExtraBold"/>
              <a:sym typeface="Source Sans 3 ExtraBold"/>
            </a:endParaRPr>
          </a:p>
        </p:txBody>
      </p:sp>
      <p:sp>
        <p:nvSpPr>
          <p:cNvPr id="155" name="Google Shape;155;p22"/>
          <p:cNvSpPr txBox="1"/>
          <p:nvPr/>
        </p:nvSpPr>
        <p:spPr>
          <a:xfrm>
            <a:off x="5124525" y="3013125"/>
            <a:ext cx="14853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600">
                <a:solidFill>
                  <a:srgbClr val="7E2F8E"/>
                </a:solidFill>
                <a:latin typeface="Source Sans 3 ExtraBold"/>
                <a:ea typeface="Source Sans 3 ExtraBold"/>
                <a:cs typeface="Source Sans 3 ExtraBold"/>
                <a:sym typeface="Source Sans 3 ExtraBold"/>
              </a:rPr>
              <a:t>Thermocline</a:t>
            </a:r>
            <a:endParaRPr sz="1600">
              <a:solidFill>
                <a:srgbClr val="7E2F8E"/>
              </a:solidFill>
              <a:latin typeface="Source Sans 3 ExtraBold"/>
              <a:ea typeface="Source Sans 3 ExtraBold"/>
              <a:cs typeface="Source Sans 3 ExtraBold"/>
              <a:sym typeface="Source Sans 3 ExtraBold"/>
            </a:endParaRPr>
          </a:p>
        </p:txBody>
      </p:sp>
      <p:sp>
        <p:nvSpPr>
          <p:cNvPr id="156" name="Google Shape;156;p22"/>
          <p:cNvSpPr txBox="1"/>
          <p:nvPr/>
        </p:nvSpPr>
        <p:spPr>
          <a:xfrm>
            <a:off x="117401" y="1782263"/>
            <a:ext cx="3325500" cy="21549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 </a:t>
            </a:r>
            <a:r>
              <a:rPr lang="en" sz="1600" u="sng">
                <a:solidFill>
                  <a:schemeClr val="dk1"/>
                </a:solidFill>
                <a:latin typeface="Source Sans 3 ExtraBold"/>
                <a:ea typeface="Source Sans 3 ExtraBold"/>
                <a:cs typeface="Source Sans 3 ExtraBold"/>
                <a:sym typeface="Source Sans 3 ExtraBold"/>
              </a:rPr>
              <a:t>mixed layer</a:t>
            </a:r>
            <a:r>
              <a:rPr lang="en" sz="1600">
                <a:solidFill>
                  <a:schemeClr val="dk1"/>
                </a:solidFill>
                <a:latin typeface="Source Sans 3 ExtraBold"/>
                <a:ea typeface="Source Sans 3 ExtraBold"/>
                <a:cs typeface="Source Sans 3 ExtraBold"/>
                <a:sym typeface="Source Sans 3 ExtraBold"/>
              </a:rPr>
              <a:t> (~10-100 m) is homogenous in salinity and temperature</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 suffix ‘</a:t>
            </a:r>
            <a:r>
              <a:rPr lang="en" sz="1600" u="sng">
                <a:solidFill>
                  <a:schemeClr val="dk1"/>
                </a:solidFill>
                <a:latin typeface="Source Sans 3 ExtraBold"/>
                <a:ea typeface="Source Sans 3 ExtraBold"/>
                <a:cs typeface="Source Sans 3 ExtraBold"/>
                <a:sym typeface="Source Sans 3 ExtraBold"/>
              </a:rPr>
              <a:t>cline</a:t>
            </a:r>
            <a:r>
              <a:rPr lang="en" sz="1600">
                <a:solidFill>
                  <a:schemeClr val="dk1"/>
                </a:solidFill>
                <a:latin typeface="Source Sans 3 ExtraBold"/>
                <a:ea typeface="Source Sans 3 ExtraBold"/>
                <a:cs typeface="Source Sans 3 ExtraBold"/>
                <a:sym typeface="Source Sans 3 ExtraBold"/>
              </a:rPr>
              <a:t>’ means region of change</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What differences do you notice between the summer and winter profiles?</a:t>
            </a:r>
            <a:endParaRPr sz="1600">
              <a:solidFill>
                <a:schemeClr val="dk1"/>
              </a:solidFill>
              <a:latin typeface="Source Sans 3 ExtraBold"/>
              <a:ea typeface="Source Sans 3 ExtraBold"/>
              <a:cs typeface="Source Sans 3 ExtraBold"/>
              <a:sym typeface="Source Sans 3 ExtraBold"/>
            </a:endParaRPr>
          </a:p>
        </p:txBody>
      </p:sp>
      <p:pic>
        <p:nvPicPr>
          <p:cNvPr id="157" name="Google Shape;157;p22" title="t_s_profile_20260913.png"/>
          <p:cNvPicPr preferRelativeResize="0"/>
          <p:nvPr/>
        </p:nvPicPr>
        <p:blipFill rotWithShape="1">
          <a:blip r:embed="rId4">
            <a:alphaModFix/>
          </a:blip>
          <a:srcRect l="21906" t="78712" r="60838" b="13384"/>
          <a:stretch/>
        </p:blipFill>
        <p:spPr>
          <a:xfrm>
            <a:off x="6609825" y="3305501"/>
            <a:ext cx="1380721" cy="431099"/>
          </a:xfrm>
          <a:prstGeom prst="rect">
            <a:avLst/>
          </a:prstGeom>
          <a:noFill/>
          <a:ln>
            <a:noFill/>
          </a:ln>
        </p:spPr>
      </p:pic>
      <p:sp>
        <p:nvSpPr>
          <p:cNvPr id="158" name="Google Shape;158;p22"/>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Anatomy of a Vertical Profile</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3"/>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Anatomy of a Vertical Profile</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grpSp>
        <p:nvGrpSpPr>
          <p:cNvPr id="164" name="Google Shape;164;p23"/>
          <p:cNvGrpSpPr/>
          <p:nvPr/>
        </p:nvGrpSpPr>
        <p:grpSpPr>
          <a:xfrm>
            <a:off x="3372790" y="1347902"/>
            <a:ext cx="5609574" cy="2656489"/>
            <a:chOff x="377400" y="706500"/>
            <a:chExt cx="6361503" cy="3012575"/>
          </a:xfrm>
        </p:grpSpPr>
        <p:pic>
          <p:nvPicPr>
            <p:cNvPr id="165" name="Google Shape;165;p23" title="t_s_rho_profiles_zoom.png"/>
            <p:cNvPicPr preferRelativeResize="0"/>
            <p:nvPr/>
          </p:nvPicPr>
          <p:blipFill rotWithShape="1">
            <a:blip r:embed="rId3">
              <a:alphaModFix/>
            </a:blip>
            <a:srcRect l="38046" r="31409"/>
            <a:stretch/>
          </p:blipFill>
          <p:spPr>
            <a:xfrm>
              <a:off x="1065101" y="706500"/>
              <a:ext cx="2700001" cy="3012575"/>
            </a:xfrm>
            <a:prstGeom prst="rect">
              <a:avLst/>
            </a:prstGeom>
            <a:noFill/>
            <a:ln>
              <a:noFill/>
            </a:ln>
          </p:spPr>
        </p:pic>
        <p:pic>
          <p:nvPicPr>
            <p:cNvPr id="166" name="Google Shape;166;p23" title="t_s_rho_profiles_zoom.png"/>
            <p:cNvPicPr preferRelativeResize="0"/>
            <p:nvPr/>
          </p:nvPicPr>
          <p:blipFill rotWithShape="1">
            <a:blip r:embed="rId3">
              <a:alphaModFix/>
            </a:blip>
            <a:srcRect l="68817"/>
            <a:stretch/>
          </p:blipFill>
          <p:spPr>
            <a:xfrm>
              <a:off x="3982603" y="706500"/>
              <a:ext cx="2756301" cy="3012575"/>
            </a:xfrm>
            <a:prstGeom prst="rect">
              <a:avLst/>
            </a:prstGeom>
            <a:noFill/>
            <a:ln>
              <a:noFill/>
            </a:ln>
          </p:spPr>
        </p:pic>
        <p:pic>
          <p:nvPicPr>
            <p:cNvPr id="167" name="Google Shape;167;p23" title="t_s_rho_profiles_zoom.png"/>
            <p:cNvPicPr preferRelativeResize="0"/>
            <p:nvPr/>
          </p:nvPicPr>
          <p:blipFill rotWithShape="1">
            <a:blip r:embed="rId3">
              <a:alphaModFix/>
            </a:blip>
            <a:srcRect r="91774"/>
            <a:stretch/>
          </p:blipFill>
          <p:spPr>
            <a:xfrm>
              <a:off x="377400" y="706500"/>
              <a:ext cx="727076" cy="3012575"/>
            </a:xfrm>
            <a:prstGeom prst="rect">
              <a:avLst/>
            </a:prstGeom>
            <a:noFill/>
            <a:ln>
              <a:noFill/>
            </a:ln>
          </p:spPr>
        </p:pic>
      </p:grpSp>
      <p:sp>
        <p:nvSpPr>
          <p:cNvPr id="168" name="Google Shape;168;p23"/>
          <p:cNvSpPr txBox="1"/>
          <p:nvPr/>
        </p:nvSpPr>
        <p:spPr>
          <a:xfrm>
            <a:off x="4717174" y="2001600"/>
            <a:ext cx="1333200" cy="385500"/>
          </a:xfrm>
          <a:prstGeom prst="rect">
            <a:avLst/>
          </a:prstGeom>
          <a:noFill/>
          <a:ln>
            <a:noFill/>
          </a:ln>
        </p:spPr>
        <p:txBody>
          <a:bodyPr spcFirstLastPara="1" wrap="square" lIns="68975" tIns="68975" rIns="68975" bIns="68975" anchor="t" anchorCtr="0">
            <a:spAutoFit/>
          </a:bodyPr>
          <a:lstStyle/>
          <a:p>
            <a:pPr marL="0" lvl="0" indent="0" algn="l" rtl="0">
              <a:spcBef>
                <a:spcPts val="0"/>
              </a:spcBef>
              <a:spcAft>
                <a:spcPts val="0"/>
              </a:spcAft>
              <a:buNone/>
            </a:pPr>
            <a:r>
              <a:rPr lang="en" sz="1600">
                <a:solidFill>
                  <a:srgbClr val="77AC30"/>
                </a:solidFill>
                <a:latin typeface="Source Sans 3 ExtraBold"/>
                <a:ea typeface="Source Sans 3 ExtraBold"/>
                <a:cs typeface="Source Sans 3 ExtraBold"/>
                <a:sym typeface="Source Sans 3 ExtraBold"/>
              </a:rPr>
              <a:t>Halostad</a:t>
            </a:r>
            <a:endParaRPr sz="1600">
              <a:solidFill>
                <a:srgbClr val="77AC30"/>
              </a:solidFill>
              <a:latin typeface="Source Sans 3 ExtraBold"/>
              <a:ea typeface="Source Sans 3 ExtraBold"/>
              <a:cs typeface="Source Sans 3 ExtraBold"/>
              <a:sym typeface="Source Sans 3 ExtraBold"/>
            </a:endParaRPr>
          </a:p>
        </p:txBody>
      </p:sp>
      <p:cxnSp>
        <p:nvCxnSpPr>
          <p:cNvPr id="169" name="Google Shape;169;p23"/>
          <p:cNvCxnSpPr/>
          <p:nvPr/>
        </p:nvCxnSpPr>
        <p:spPr>
          <a:xfrm flipH="1">
            <a:off x="4166378" y="2180406"/>
            <a:ext cx="550800" cy="158700"/>
          </a:xfrm>
          <a:prstGeom prst="straightConnector1">
            <a:avLst/>
          </a:prstGeom>
          <a:noFill/>
          <a:ln w="19050" cap="flat" cmpd="sng">
            <a:solidFill>
              <a:srgbClr val="77AC30"/>
            </a:solidFill>
            <a:prstDash val="solid"/>
            <a:round/>
            <a:headEnd type="none" w="med" len="med"/>
            <a:tailEnd type="triangle" w="med" len="med"/>
          </a:ln>
        </p:spPr>
      </p:cxnSp>
      <p:sp>
        <p:nvSpPr>
          <p:cNvPr id="170" name="Google Shape;170;p23"/>
          <p:cNvSpPr txBox="1"/>
          <p:nvPr/>
        </p:nvSpPr>
        <p:spPr>
          <a:xfrm>
            <a:off x="384475" y="1352400"/>
            <a:ext cx="2926800" cy="26475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 prefix ‘</a:t>
            </a:r>
            <a:r>
              <a:rPr lang="en" sz="1600" u="sng">
                <a:solidFill>
                  <a:schemeClr val="dk1"/>
                </a:solidFill>
                <a:latin typeface="Source Sans 3 ExtraBold"/>
                <a:ea typeface="Source Sans 3 ExtraBold"/>
                <a:cs typeface="Source Sans 3 ExtraBold"/>
                <a:sym typeface="Source Sans 3 ExtraBold"/>
              </a:rPr>
              <a:t>halo</a:t>
            </a:r>
            <a:r>
              <a:rPr lang="en" sz="1600">
                <a:solidFill>
                  <a:schemeClr val="dk1"/>
                </a:solidFill>
                <a:latin typeface="Source Sans 3 ExtraBold"/>
                <a:ea typeface="Source Sans 3 ExtraBold"/>
                <a:cs typeface="Source Sans 3 ExtraBold"/>
                <a:sym typeface="Source Sans 3 ExtraBold"/>
              </a:rPr>
              <a:t>’ means relating to salinity</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 prefix ‘</a:t>
            </a:r>
            <a:r>
              <a:rPr lang="en" sz="1600" u="sng">
                <a:solidFill>
                  <a:schemeClr val="dk1"/>
                </a:solidFill>
                <a:latin typeface="Source Sans 3 ExtraBold"/>
                <a:ea typeface="Source Sans 3 ExtraBold"/>
                <a:cs typeface="Source Sans 3 ExtraBold"/>
                <a:sym typeface="Source Sans 3 ExtraBold"/>
              </a:rPr>
              <a:t>pycno</a:t>
            </a:r>
            <a:r>
              <a:rPr lang="en" sz="1600">
                <a:solidFill>
                  <a:schemeClr val="dk1"/>
                </a:solidFill>
                <a:latin typeface="Source Sans 3 ExtraBold"/>
                <a:ea typeface="Source Sans 3 ExtraBold"/>
                <a:cs typeface="Source Sans 3 ExtraBold"/>
                <a:sym typeface="Source Sans 3 ExtraBold"/>
              </a:rPr>
              <a:t>’ means relating to density</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 suffix ‘</a:t>
            </a:r>
            <a:r>
              <a:rPr lang="en" sz="1600" u="sng">
                <a:solidFill>
                  <a:schemeClr val="dk1"/>
                </a:solidFill>
                <a:latin typeface="Source Sans 3 ExtraBold"/>
                <a:ea typeface="Source Sans 3 ExtraBold"/>
                <a:cs typeface="Source Sans 3 ExtraBold"/>
                <a:sym typeface="Source Sans 3 ExtraBold"/>
              </a:rPr>
              <a:t>stad</a:t>
            </a:r>
            <a:r>
              <a:rPr lang="en" sz="1600">
                <a:solidFill>
                  <a:schemeClr val="dk1"/>
                </a:solidFill>
                <a:latin typeface="Source Sans 3 ExtraBold"/>
                <a:ea typeface="Source Sans 3 ExtraBold"/>
                <a:cs typeface="Source Sans 3 ExtraBold"/>
                <a:sym typeface="Source Sans 3 ExtraBold"/>
              </a:rPr>
              <a:t>’ means not changing</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What differences do you notice between the summer and winter profiles?</a:t>
            </a:r>
            <a:endParaRPr sz="1600">
              <a:solidFill>
                <a:schemeClr val="dk1"/>
              </a:solidFill>
              <a:latin typeface="Source Sans 3 ExtraBold"/>
              <a:ea typeface="Source Sans 3 ExtraBold"/>
              <a:cs typeface="Source Sans 3 ExtraBold"/>
              <a:sym typeface="Source Sans 3 ExtraBold"/>
            </a:endParaRPr>
          </a:p>
        </p:txBody>
      </p:sp>
      <p:cxnSp>
        <p:nvCxnSpPr>
          <p:cNvPr id="171" name="Google Shape;171;p23"/>
          <p:cNvCxnSpPr/>
          <p:nvPr/>
        </p:nvCxnSpPr>
        <p:spPr>
          <a:xfrm rot="10800000" flipH="1">
            <a:off x="3663850" y="2646750"/>
            <a:ext cx="667500" cy="1635000"/>
          </a:xfrm>
          <a:prstGeom prst="straightConnector1">
            <a:avLst/>
          </a:prstGeom>
          <a:noFill/>
          <a:ln w="19050" cap="flat" cmpd="sng">
            <a:solidFill>
              <a:srgbClr val="7E2F8E"/>
            </a:solidFill>
            <a:prstDash val="solid"/>
            <a:round/>
            <a:headEnd type="none" w="med" len="med"/>
            <a:tailEnd type="triangle" w="med" len="med"/>
          </a:ln>
        </p:spPr>
      </p:cxnSp>
      <p:cxnSp>
        <p:nvCxnSpPr>
          <p:cNvPr id="172" name="Google Shape;172;p23"/>
          <p:cNvCxnSpPr/>
          <p:nvPr/>
        </p:nvCxnSpPr>
        <p:spPr>
          <a:xfrm flipH="1">
            <a:off x="7241350" y="861750"/>
            <a:ext cx="375000" cy="1162500"/>
          </a:xfrm>
          <a:prstGeom prst="straightConnector1">
            <a:avLst/>
          </a:prstGeom>
          <a:noFill/>
          <a:ln w="19050" cap="flat" cmpd="sng">
            <a:solidFill>
              <a:srgbClr val="77AC30"/>
            </a:solidFill>
            <a:prstDash val="solid"/>
            <a:round/>
            <a:headEnd type="none" w="med" len="med"/>
            <a:tailEnd type="triangle" w="med" len="med"/>
          </a:ln>
        </p:spPr>
      </p:cxnSp>
      <p:pic>
        <p:nvPicPr>
          <p:cNvPr id="173" name="Google Shape;173;p23" title="t_s_profile_20260913.png"/>
          <p:cNvPicPr preferRelativeResize="0"/>
          <p:nvPr/>
        </p:nvPicPr>
        <p:blipFill rotWithShape="1">
          <a:blip r:embed="rId4">
            <a:alphaModFix/>
          </a:blip>
          <a:srcRect l="21907" t="78712" r="62608" b="13384"/>
          <a:stretch/>
        </p:blipFill>
        <p:spPr>
          <a:xfrm>
            <a:off x="6789825" y="2826750"/>
            <a:ext cx="1239025" cy="431099"/>
          </a:xfrm>
          <a:prstGeom prst="rect">
            <a:avLst/>
          </a:prstGeom>
          <a:noFill/>
          <a:ln>
            <a:noFill/>
          </a:ln>
        </p:spPr>
      </p:pic>
      <p:sp>
        <p:nvSpPr>
          <p:cNvPr id="174" name="Google Shape;174;p23"/>
          <p:cNvSpPr txBox="1"/>
          <p:nvPr/>
        </p:nvSpPr>
        <p:spPr>
          <a:xfrm>
            <a:off x="3435427" y="4281750"/>
            <a:ext cx="375000" cy="601200"/>
          </a:xfrm>
          <a:prstGeom prst="rect">
            <a:avLst/>
          </a:prstGeom>
          <a:noFill/>
          <a:ln>
            <a:noFill/>
          </a:ln>
        </p:spPr>
        <p:txBody>
          <a:bodyPr spcFirstLastPara="1" wrap="square" lIns="68975" tIns="68975" rIns="68975" bIns="68975" anchor="t" anchorCtr="0">
            <a:spAutoFit/>
          </a:bodyPr>
          <a:lstStyle/>
          <a:p>
            <a:pPr marL="0" lvl="0" indent="0" algn="ctr" rtl="0">
              <a:spcBef>
                <a:spcPts val="0"/>
              </a:spcBef>
              <a:spcAft>
                <a:spcPts val="0"/>
              </a:spcAft>
              <a:buNone/>
            </a:pPr>
            <a:r>
              <a:rPr lang="en" sz="3000">
                <a:solidFill>
                  <a:srgbClr val="7E2F8E"/>
                </a:solidFill>
                <a:latin typeface="Source Sans 3 ExtraBold"/>
                <a:ea typeface="Source Sans 3 ExtraBold"/>
                <a:cs typeface="Source Sans 3 ExtraBold"/>
                <a:sym typeface="Source Sans 3 ExtraBold"/>
              </a:rPr>
              <a:t>?</a:t>
            </a:r>
            <a:endParaRPr sz="3000">
              <a:solidFill>
                <a:srgbClr val="7E2F8E"/>
              </a:solidFill>
              <a:latin typeface="Source Sans 3 ExtraBold"/>
              <a:ea typeface="Source Sans 3 ExtraBold"/>
              <a:cs typeface="Source Sans 3 ExtraBold"/>
              <a:sym typeface="Source Sans 3 ExtraBold"/>
            </a:endParaRPr>
          </a:p>
        </p:txBody>
      </p:sp>
      <p:sp>
        <p:nvSpPr>
          <p:cNvPr id="175" name="Google Shape;175;p23"/>
          <p:cNvSpPr txBox="1"/>
          <p:nvPr/>
        </p:nvSpPr>
        <p:spPr>
          <a:xfrm>
            <a:off x="7478390" y="260546"/>
            <a:ext cx="375000" cy="601200"/>
          </a:xfrm>
          <a:prstGeom prst="rect">
            <a:avLst/>
          </a:prstGeom>
          <a:noFill/>
          <a:ln>
            <a:noFill/>
          </a:ln>
        </p:spPr>
        <p:txBody>
          <a:bodyPr spcFirstLastPara="1" wrap="square" lIns="68975" tIns="68975" rIns="68975" bIns="68975" anchor="t" anchorCtr="0">
            <a:spAutoFit/>
          </a:bodyPr>
          <a:lstStyle/>
          <a:p>
            <a:pPr marL="0" lvl="0" indent="0" algn="ctr" rtl="0">
              <a:spcBef>
                <a:spcPts val="0"/>
              </a:spcBef>
              <a:spcAft>
                <a:spcPts val="0"/>
              </a:spcAft>
              <a:buNone/>
            </a:pPr>
            <a:r>
              <a:rPr lang="en" sz="3000">
                <a:solidFill>
                  <a:srgbClr val="77AC30"/>
                </a:solidFill>
                <a:latin typeface="Source Sans 3 ExtraBold"/>
                <a:ea typeface="Source Sans 3 ExtraBold"/>
                <a:cs typeface="Source Sans 3 ExtraBold"/>
                <a:sym typeface="Source Sans 3 ExtraBold"/>
              </a:rPr>
              <a:t>?</a:t>
            </a:r>
            <a:endParaRPr sz="3000">
              <a:solidFill>
                <a:srgbClr val="77AC30"/>
              </a:solidFill>
              <a:latin typeface="Source Sans 3 ExtraBold"/>
              <a:ea typeface="Source Sans 3 ExtraBold"/>
              <a:cs typeface="Source Sans 3 ExtraBold"/>
              <a:sym typeface="Source Sans 3 Extra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4"/>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Anatomy of a Vertical Profile</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grpSp>
        <p:nvGrpSpPr>
          <p:cNvPr id="181" name="Google Shape;181;p24"/>
          <p:cNvGrpSpPr/>
          <p:nvPr/>
        </p:nvGrpSpPr>
        <p:grpSpPr>
          <a:xfrm>
            <a:off x="3372790" y="1347902"/>
            <a:ext cx="5609574" cy="2656489"/>
            <a:chOff x="377400" y="706500"/>
            <a:chExt cx="6361503" cy="3012575"/>
          </a:xfrm>
        </p:grpSpPr>
        <p:pic>
          <p:nvPicPr>
            <p:cNvPr id="182" name="Google Shape;182;p24" title="t_s_rho_profiles_zoom.png"/>
            <p:cNvPicPr preferRelativeResize="0"/>
            <p:nvPr/>
          </p:nvPicPr>
          <p:blipFill rotWithShape="1">
            <a:blip r:embed="rId3">
              <a:alphaModFix/>
            </a:blip>
            <a:srcRect l="38046" r="31409"/>
            <a:stretch/>
          </p:blipFill>
          <p:spPr>
            <a:xfrm>
              <a:off x="1065101" y="706500"/>
              <a:ext cx="2700001" cy="3012575"/>
            </a:xfrm>
            <a:prstGeom prst="rect">
              <a:avLst/>
            </a:prstGeom>
            <a:noFill/>
            <a:ln>
              <a:noFill/>
            </a:ln>
          </p:spPr>
        </p:pic>
        <p:pic>
          <p:nvPicPr>
            <p:cNvPr id="183" name="Google Shape;183;p24" title="t_s_rho_profiles_zoom.png"/>
            <p:cNvPicPr preferRelativeResize="0"/>
            <p:nvPr/>
          </p:nvPicPr>
          <p:blipFill rotWithShape="1">
            <a:blip r:embed="rId3">
              <a:alphaModFix/>
            </a:blip>
            <a:srcRect l="68817"/>
            <a:stretch/>
          </p:blipFill>
          <p:spPr>
            <a:xfrm>
              <a:off x="3982603" y="706500"/>
              <a:ext cx="2756301" cy="3012575"/>
            </a:xfrm>
            <a:prstGeom prst="rect">
              <a:avLst/>
            </a:prstGeom>
            <a:noFill/>
            <a:ln>
              <a:noFill/>
            </a:ln>
          </p:spPr>
        </p:pic>
        <p:pic>
          <p:nvPicPr>
            <p:cNvPr id="184" name="Google Shape;184;p24" title="t_s_rho_profiles_zoom.png"/>
            <p:cNvPicPr preferRelativeResize="0"/>
            <p:nvPr/>
          </p:nvPicPr>
          <p:blipFill rotWithShape="1">
            <a:blip r:embed="rId3">
              <a:alphaModFix/>
            </a:blip>
            <a:srcRect r="91774"/>
            <a:stretch/>
          </p:blipFill>
          <p:spPr>
            <a:xfrm>
              <a:off x="377400" y="706500"/>
              <a:ext cx="727076" cy="3012575"/>
            </a:xfrm>
            <a:prstGeom prst="rect">
              <a:avLst/>
            </a:prstGeom>
            <a:noFill/>
            <a:ln>
              <a:noFill/>
            </a:ln>
          </p:spPr>
        </p:pic>
      </p:grpSp>
      <p:sp>
        <p:nvSpPr>
          <p:cNvPr id="185" name="Google Shape;185;p24"/>
          <p:cNvSpPr txBox="1"/>
          <p:nvPr/>
        </p:nvSpPr>
        <p:spPr>
          <a:xfrm>
            <a:off x="4717173" y="2001600"/>
            <a:ext cx="1634100" cy="385500"/>
          </a:xfrm>
          <a:prstGeom prst="rect">
            <a:avLst/>
          </a:prstGeom>
          <a:noFill/>
          <a:ln>
            <a:noFill/>
          </a:ln>
        </p:spPr>
        <p:txBody>
          <a:bodyPr spcFirstLastPara="1" wrap="square" lIns="68975" tIns="68975" rIns="68975" bIns="68975" anchor="t" anchorCtr="0">
            <a:spAutoFit/>
          </a:bodyPr>
          <a:lstStyle/>
          <a:p>
            <a:pPr marL="0" lvl="0" indent="0" algn="l" rtl="0">
              <a:spcBef>
                <a:spcPts val="0"/>
              </a:spcBef>
              <a:spcAft>
                <a:spcPts val="0"/>
              </a:spcAft>
              <a:buNone/>
            </a:pPr>
            <a:r>
              <a:rPr lang="en" sz="1600">
                <a:solidFill>
                  <a:srgbClr val="77AC30"/>
                </a:solidFill>
                <a:latin typeface="Source Sans 3 ExtraBold"/>
                <a:ea typeface="Source Sans 3 ExtraBold"/>
                <a:cs typeface="Source Sans 3 ExtraBold"/>
                <a:sym typeface="Source Sans 3 ExtraBold"/>
              </a:rPr>
              <a:t>Halostad</a:t>
            </a:r>
            <a:endParaRPr sz="1600">
              <a:solidFill>
                <a:srgbClr val="77AC30"/>
              </a:solidFill>
              <a:latin typeface="Source Sans 3 ExtraBold"/>
              <a:ea typeface="Source Sans 3 ExtraBold"/>
              <a:cs typeface="Source Sans 3 ExtraBold"/>
              <a:sym typeface="Source Sans 3 ExtraBold"/>
            </a:endParaRPr>
          </a:p>
        </p:txBody>
      </p:sp>
      <p:cxnSp>
        <p:nvCxnSpPr>
          <p:cNvPr id="186" name="Google Shape;186;p24"/>
          <p:cNvCxnSpPr/>
          <p:nvPr/>
        </p:nvCxnSpPr>
        <p:spPr>
          <a:xfrm flipH="1">
            <a:off x="4166378" y="2180406"/>
            <a:ext cx="550800" cy="158700"/>
          </a:xfrm>
          <a:prstGeom prst="straightConnector1">
            <a:avLst/>
          </a:prstGeom>
          <a:noFill/>
          <a:ln w="19050" cap="flat" cmpd="sng">
            <a:solidFill>
              <a:srgbClr val="77AC30"/>
            </a:solidFill>
            <a:prstDash val="solid"/>
            <a:round/>
            <a:headEnd type="none" w="med" len="med"/>
            <a:tailEnd type="triangle" w="med" len="med"/>
          </a:ln>
        </p:spPr>
      </p:cxnSp>
      <p:sp>
        <p:nvSpPr>
          <p:cNvPr id="187" name="Google Shape;187;p24"/>
          <p:cNvSpPr txBox="1"/>
          <p:nvPr/>
        </p:nvSpPr>
        <p:spPr>
          <a:xfrm>
            <a:off x="384475" y="1352400"/>
            <a:ext cx="2926800" cy="26475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 prefix ‘</a:t>
            </a:r>
            <a:r>
              <a:rPr lang="en" sz="1600" u="sng">
                <a:solidFill>
                  <a:schemeClr val="dk1"/>
                </a:solidFill>
                <a:latin typeface="Source Sans 3 ExtraBold"/>
                <a:ea typeface="Source Sans 3 ExtraBold"/>
                <a:cs typeface="Source Sans 3 ExtraBold"/>
                <a:sym typeface="Source Sans 3 ExtraBold"/>
              </a:rPr>
              <a:t>halo</a:t>
            </a:r>
            <a:r>
              <a:rPr lang="en" sz="1600">
                <a:solidFill>
                  <a:schemeClr val="dk1"/>
                </a:solidFill>
                <a:latin typeface="Source Sans 3 ExtraBold"/>
                <a:ea typeface="Source Sans 3 ExtraBold"/>
                <a:cs typeface="Source Sans 3 ExtraBold"/>
                <a:sym typeface="Source Sans 3 ExtraBold"/>
              </a:rPr>
              <a:t>’ means relating to salinity</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 prefix ‘</a:t>
            </a:r>
            <a:r>
              <a:rPr lang="en" sz="1600" u="sng">
                <a:solidFill>
                  <a:schemeClr val="dk1"/>
                </a:solidFill>
                <a:latin typeface="Source Sans 3 ExtraBold"/>
                <a:ea typeface="Source Sans 3 ExtraBold"/>
                <a:cs typeface="Source Sans 3 ExtraBold"/>
                <a:sym typeface="Source Sans 3 ExtraBold"/>
              </a:rPr>
              <a:t>pycno</a:t>
            </a:r>
            <a:r>
              <a:rPr lang="en" sz="1600">
                <a:solidFill>
                  <a:schemeClr val="dk1"/>
                </a:solidFill>
                <a:latin typeface="Source Sans 3 ExtraBold"/>
                <a:ea typeface="Source Sans 3 ExtraBold"/>
                <a:cs typeface="Source Sans 3 ExtraBold"/>
                <a:sym typeface="Source Sans 3 ExtraBold"/>
              </a:rPr>
              <a:t>’ means relating to density</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The suffix ‘</a:t>
            </a:r>
            <a:r>
              <a:rPr lang="en" sz="1600" u="sng">
                <a:solidFill>
                  <a:schemeClr val="dk1"/>
                </a:solidFill>
                <a:latin typeface="Source Sans 3 ExtraBold"/>
                <a:ea typeface="Source Sans 3 ExtraBold"/>
                <a:cs typeface="Source Sans 3 ExtraBold"/>
                <a:sym typeface="Source Sans 3 ExtraBold"/>
              </a:rPr>
              <a:t>stad</a:t>
            </a:r>
            <a:r>
              <a:rPr lang="en" sz="1600">
                <a:solidFill>
                  <a:schemeClr val="dk1"/>
                </a:solidFill>
                <a:latin typeface="Source Sans 3 ExtraBold"/>
                <a:ea typeface="Source Sans 3 ExtraBold"/>
                <a:cs typeface="Source Sans 3 ExtraBold"/>
                <a:sym typeface="Source Sans 3 ExtraBold"/>
              </a:rPr>
              <a:t>’ means not changing</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What differences do you notice between the summer and winter profiles?</a:t>
            </a:r>
            <a:endParaRPr sz="1600">
              <a:solidFill>
                <a:schemeClr val="dk1"/>
              </a:solidFill>
              <a:latin typeface="Source Sans 3 ExtraBold"/>
              <a:ea typeface="Source Sans 3 ExtraBold"/>
              <a:cs typeface="Source Sans 3 ExtraBold"/>
              <a:sym typeface="Source Sans 3 ExtraBold"/>
            </a:endParaRPr>
          </a:p>
        </p:txBody>
      </p:sp>
      <p:cxnSp>
        <p:nvCxnSpPr>
          <p:cNvPr id="188" name="Google Shape;188;p24"/>
          <p:cNvCxnSpPr/>
          <p:nvPr/>
        </p:nvCxnSpPr>
        <p:spPr>
          <a:xfrm rot="10800000" flipH="1">
            <a:off x="3663850" y="2646750"/>
            <a:ext cx="667500" cy="1635000"/>
          </a:xfrm>
          <a:prstGeom prst="straightConnector1">
            <a:avLst/>
          </a:prstGeom>
          <a:noFill/>
          <a:ln w="19050" cap="flat" cmpd="sng">
            <a:solidFill>
              <a:srgbClr val="7E2F8E"/>
            </a:solidFill>
            <a:prstDash val="solid"/>
            <a:round/>
            <a:headEnd type="none" w="med" len="med"/>
            <a:tailEnd type="triangle" w="med" len="med"/>
          </a:ln>
        </p:spPr>
      </p:cxnSp>
      <p:cxnSp>
        <p:nvCxnSpPr>
          <p:cNvPr id="189" name="Google Shape;189;p24"/>
          <p:cNvCxnSpPr/>
          <p:nvPr/>
        </p:nvCxnSpPr>
        <p:spPr>
          <a:xfrm flipH="1">
            <a:off x="7241350" y="861750"/>
            <a:ext cx="375000" cy="1162500"/>
          </a:xfrm>
          <a:prstGeom prst="straightConnector1">
            <a:avLst/>
          </a:prstGeom>
          <a:noFill/>
          <a:ln w="19050" cap="flat" cmpd="sng">
            <a:solidFill>
              <a:srgbClr val="77AC30"/>
            </a:solidFill>
            <a:prstDash val="solid"/>
            <a:round/>
            <a:headEnd type="none" w="med" len="med"/>
            <a:tailEnd type="triangle" w="med" len="med"/>
          </a:ln>
        </p:spPr>
      </p:cxnSp>
      <p:sp>
        <p:nvSpPr>
          <p:cNvPr id="190" name="Google Shape;190;p24"/>
          <p:cNvSpPr txBox="1"/>
          <p:nvPr/>
        </p:nvSpPr>
        <p:spPr>
          <a:xfrm>
            <a:off x="7149574" y="476250"/>
            <a:ext cx="1216800" cy="385500"/>
          </a:xfrm>
          <a:prstGeom prst="rect">
            <a:avLst/>
          </a:prstGeom>
          <a:noFill/>
          <a:ln>
            <a:noFill/>
          </a:ln>
        </p:spPr>
        <p:txBody>
          <a:bodyPr spcFirstLastPara="1" wrap="square" lIns="68975" tIns="68975" rIns="68975" bIns="68975" anchor="t" anchorCtr="0">
            <a:spAutoFit/>
          </a:bodyPr>
          <a:lstStyle/>
          <a:p>
            <a:pPr marL="0" lvl="0" indent="0" algn="l" rtl="0">
              <a:spcBef>
                <a:spcPts val="0"/>
              </a:spcBef>
              <a:spcAft>
                <a:spcPts val="0"/>
              </a:spcAft>
              <a:buNone/>
            </a:pPr>
            <a:r>
              <a:rPr lang="en" sz="1600">
                <a:solidFill>
                  <a:srgbClr val="77AC30"/>
                </a:solidFill>
                <a:latin typeface="Source Sans 3 ExtraBold"/>
                <a:ea typeface="Source Sans 3 ExtraBold"/>
                <a:cs typeface="Source Sans 3 ExtraBold"/>
                <a:sym typeface="Source Sans 3 ExtraBold"/>
              </a:rPr>
              <a:t>Pycnocline</a:t>
            </a:r>
            <a:endParaRPr sz="1600">
              <a:solidFill>
                <a:srgbClr val="77AC30"/>
              </a:solidFill>
              <a:latin typeface="Source Sans 3 ExtraBold"/>
              <a:ea typeface="Source Sans 3 ExtraBold"/>
              <a:cs typeface="Source Sans 3 ExtraBold"/>
              <a:sym typeface="Source Sans 3 ExtraBold"/>
            </a:endParaRPr>
          </a:p>
        </p:txBody>
      </p:sp>
      <p:sp>
        <p:nvSpPr>
          <p:cNvPr id="191" name="Google Shape;191;p24"/>
          <p:cNvSpPr txBox="1"/>
          <p:nvPr/>
        </p:nvSpPr>
        <p:spPr>
          <a:xfrm>
            <a:off x="3079474" y="4281750"/>
            <a:ext cx="1216800" cy="385500"/>
          </a:xfrm>
          <a:prstGeom prst="rect">
            <a:avLst/>
          </a:prstGeom>
          <a:noFill/>
          <a:ln>
            <a:noFill/>
          </a:ln>
        </p:spPr>
        <p:txBody>
          <a:bodyPr spcFirstLastPara="1" wrap="square" lIns="68975" tIns="68975" rIns="68975" bIns="68975" anchor="t" anchorCtr="0">
            <a:spAutoFit/>
          </a:bodyPr>
          <a:lstStyle/>
          <a:p>
            <a:pPr marL="0" lvl="0" indent="0" algn="l" rtl="0">
              <a:spcBef>
                <a:spcPts val="0"/>
              </a:spcBef>
              <a:spcAft>
                <a:spcPts val="0"/>
              </a:spcAft>
              <a:buNone/>
            </a:pPr>
            <a:r>
              <a:rPr lang="en" sz="1600">
                <a:solidFill>
                  <a:srgbClr val="7E2F8E"/>
                </a:solidFill>
                <a:latin typeface="Source Sans 3 ExtraBold"/>
                <a:ea typeface="Source Sans 3 ExtraBold"/>
                <a:cs typeface="Source Sans 3 ExtraBold"/>
                <a:sym typeface="Source Sans 3 ExtraBold"/>
              </a:rPr>
              <a:t>Halocline</a:t>
            </a:r>
            <a:endParaRPr sz="1600">
              <a:solidFill>
                <a:srgbClr val="7E2F8E"/>
              </a:solidFill>
              <a:latin typeface="Source Sans 3 ExtraBold"/>
              <a:ea typeface="Source Sans 3 ExtraBold"/>
              <a:cs typeface="Source Sans 3 ExtraBold"/>
              <a:sym typeface="Source Sans 3 ExtraBold"/>
            </a:endParaRPr>
          </a:p>
        </p:txBody>
      </p:sp>
      <p:pic>
        <p:nvPicPr>
          <p:cNvPr id="192" name="Google Shape;192;p24" title="t_s_profile_20260913.png"/>
          <p:cNvPicPr preferRelativeResize="0"/>
          <p:nvPr/>
        </p:nvPicPr>
        <p:blipFill rotWithShape="1">
          <a:blip r:embed="rId4">
            <a:alphaModFix/>
          </a:blip>
          <a:srcRect l="21907" t="78712" r="62608" b="13384"/>
          <a:stretch/>
        </p:blipFill>
        <p:spPr>
          <a:xfrm>
            <a:off x="6789825" y="2826750"/>
            <a:ext cx="1239025" cy="431099"/>
          </a:xfrm>
          <a:prstGeom prst="rect">
            <a:avLst/>
          </a:prstGeom>
          <a:noFill/>
          <a:ln>
            <a:noFill/>
          </a:ln>
        </p:spPr>
      </p:pic>
      <p:sp>
        <p:nvSpPr>
          <p:cNvPr id="193" name="Google Shape;193;p24"/>
          <p:cNvSpPr txBox="1"/>
          <p:nvPr/>
        </p:nvSpPr>
        <p:spPr>
          <a:xfrm>
            <a:off x="7659650" y="1570500"/>
            <a:ext cx="1289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7E2F8E"/>
                </a:solidFill>
                <a:latin typeface="Source Sans 3 ExtraBold"/>
                <a:ea typeface="Source Sans 3 ExtraBold"/>
                <a:cs typeface="Source Sans 3 ExtraBold"/>
                <a:sym typeface="Source Sans 3 ExtraBold"/>
              </a:rPr>
              <a:t>Mixed Layer </a:t>
            </a:r>
            <a:endParaRPr sz="1600">
              <a:solidFill>
                <a:srgbClr val="7E2F8E"/>
              </a:solidFill>
              <a:latin typeface="Source Sans 3 ExtraBold"/>
              <a:ea typeface="Source Sans 3 ExtraBold"/>
              <a:cs typeface="Source Sans 3 ExtraBold"/>
              <a:sym typeface="Source Sans 3 ExtraBold"/>
            </a:endParaRPr>
          </a:p>
        </p:txBody>
      </p:sp>
      <p:sp>
        <p:nvSpPr>
          <p:cNvPr id="194" name="Google Shape;194;p24"/>
          <p:cNvSpPr txBox="1"/>
          <p:nvPr/>
        </p:nvSpPr>
        <p:spPr>
          <a:xfrm>
            <a:off x="4400375" y="1570500"/>
            <a:ext cx="1634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77AC30"/>
                </a:solidFill>
                <a:latin typeface="Source Sans 3 ExtraBold"/>
                <a:ea typeface="Source Sans 3 ExtraBold"/>
                <a:cs typeface="Source Sans 3 ExtraBold"/>
                <a:sym typeface="Source Sans 3 ExtraBold"/>
              </a:rPr>
              <a:t>Mixed Layer </a:t>
            </a:r>
            <a:endParaRPr sz="1600">
              <a:solidFill>
                <a:srgbClr val="77AC30"/>
              </a:solidFill>
              <a:latin typeface="Source Sans 3 ExtraBold"/>
              <a:ea typeface="Source Sans 3 ExtraBold"/>
              <a:cs typeface="Source Sans 3 ExtraBold"/>
              <a:sym typeface="Source Sans 3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5" title="t_s_diagram.png"/>
          <p:cNvPicPr preferRelativeResize="0"/>
          <p:nvPr/>
        </p:nvPicPr>
        <p:blipFill rotWithShape="1">
          <a:blip r:embed="rId3">
            <a:alphaModFix/>
          </a:blip>
          <a:srcRect t="7037"/>
          <a:stretch/>
        </p:blipFill>
        <p:spPr>
          <a:xfrm>
            <a:off x="352799" y="554100"/>
            <a:ext cx="5733376" cy="4278325"/>
          </a:xfrm>
          <a:prstGeom prst="rect">
            <a:avLst/>
          </a:prstGeom>
          <a:noFill/>
          <a:ln>
            <a:noFill/>
          </a:ln>
        </p:spPr>
      </p:pic>
      <p:sp>
        <p:nvSpPr>
          <p:cNvPr id="200" name="Google Shape;200;p25"/>
          <p:cNvSpPr txBox="1"/>
          <p:nvPr/>
        </p:nvSpPr>
        <p:spPr>
          <a:xfrm>
            <a:off x="83137" y="0"/>
            <a:ext cx="7355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T/S Diagrams - Water Mass Fingerprints</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sp>
        <p:nvSpPr>
          <p:cNvPr id="201" name="Google Shape;201;p25"/>
          <p:cNvSpPr txBox="1"/>
          <p:nvPr/>
        </p:nvSpPr>
        <p:spPr>
          <a:xfrm>
            <a:off x="5812796" y="762725"/>
            <a:ext cx="23787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595959"/>
                </a:solidFill>
                <a:latin typeface="Source Sans 3 ExtraBold"/>
                <a:ea typeface="Source Sans 3 ExtraBold"/>
                <a:cs typeface="Source Sans 3 ExtraBold"/>
                <a:sym typeface="Source Sans 3 ExtraBold"/>
              </a:rPr>
              <a:t>‘</a:t>
            </a:r>
            <a:r>
              <a:rPr lang="en" sz="1600" u="sng">
                <a:solidFill>
                  <a:srgbClr val="595959"/>
                </a:solidFill>
                <a:latin typeface="Source Sans 3 ExtraBold"/>
                <a:ea typeface="Source Sans 3 ExtraBold"/>
                <a:cs typeface="Source Sans 3 ExtraBold"/>
                <a:sym typeface="Source Sans 3 ExtraBold"/>
              </a:rPr>
              <a:t>Isopycnal</a:t>
            </a:r>
            <a:r>
              <a:rPr lang="en" sz="1600">
                <a:solidFill>
                  <a:srgbClr val="595959"/>
                </a:solidFill>
                <a:latin typeface="Source Sans 3 ExtraBold"/>
                <a:ea typeface="Source Sans 3 ExtraBold"/>
                <a:cs typeface="Source Sans 3 ExtraBold"/>
                <a:sym typeface="Source Sans 3 ExtraBold"/>
              </a:rPr>
              <a:t>’ means same density</a:t>
            </a:r>
            <a:endParaRPr sz="1600">
              <a:solidFill>
                <a:srgbClr val="595959"/>
              </a:solidFill>
              <a:latin typeface="Source Sans 3 ExtraBold"/>
              <a:ea typeface="Source Sans 3 ExtraBold"/>
              <a:cs typeface="Source Sans 3 ExtraBold"/>
              <a:sym typeface="Source Sans 3 ExtraBold"/>
            </a:endParaRPr>
          </a:p>
        </p:txBody>
      </p:sp>
      <p:cxnSp>
        <p:nvCxnSpPr>
          <p:cNvPr id="202" name="Google Shape;202;p25"/>
          <p:cNvCxnSpPr>
            <a:stCxn id="201" idx="1"/>
          </p:cNvCxnSpPr>
          <p:nvPr/>
        </p:nvCxnSpPr>
        <p:spPr>
          <a:xfrm flipH="1">
            <a:off x="5086796" y="1101275"/>
            <a:ext cx="726000" cy="42000"/>
          </a:xfrm>
          <a:prstGeom prst="straightConnector1">
            <a:avLst/>
          </a:prstGeom>
          <a:noFill/>
          <a:ln w="19050" cap="flat" cmpd="sng">
            <a:solidFill>
              <a:schemeClr val="dk2"/>
            </a:solidFill>
            <a:prstDash val="solid"/>
            <a:round/>
            <a:headEnd type="none" w="med" len="med"/>
            <a:tailEnd type="triangle" w="med" len="med"/>
          </a:ln>
        </p:spPr>
      </p:cxnSp>
      <p:sp>
        <p:nvSpPr>
          <p:cNvPr id="203" name="Google Shape;203;p25"/>
          <p:cNvSpPr txBox="1"/>
          <p:nvPr/>
        </p:nvSpPr>
        <p:spPr>
          <a:xfrm>
            <a:off x="5677813" y="1617450"/>
            <a:ext cx="3113400" cy="19086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a:t>
            </a:r>
            <a:r>
              <a:rPr lang="en" sz="1600" u="sng">
                <a:solidFill>
                  <a:schemeClr val="dk1"/>
                </a:solidFill>
                <a:latin typeface="Source Sans 3 ExtraBold"/>
                <a:ea typeface="Source Sans 3 ExtraBold"/>
                <a:cs typeface="Source Sans 3 ExtraBold"/>
                <a:sym typeface="Source Sans 3 ExtraBold"/>
              </a:rPr>
              <a:t>Water masses’</a:t>
            </a:r>
            <a:r>
              <a:rPr lang="en" sz="1600">
                <a:solidFill>
                  <a:schemeClr val="dk1"/>
                </a:solidFill>
                <a:latin typeface="Source Sans 3 ExtraBold"/>
                <a:ea typeface="Source Sans 3 ExtraBold"/>
                <a:cs typeface="Source Sans 3 ExtraBold"/>
                <a:sym typeface="Source Sans 3 ExtraBold"/>
              </a:rPr>
              <a:t> with similar T/S characteristics can share </a:t>
            </a:r>
            <a:r>
              <a:rPr lang="en" sz="1600" u="sng">
                <a:solidFill>
                  <a:schemeClr val="dk1"/>
                </a:solidFill>
                <a:latin typeface="Source Sans 3 ExtraBold"/>
                <a:ea typeface="Source Sans 3 ExtraBold"/>
                <a:cs typeface="Source Sans 3 ExtraBold"/>
                <a:sym typeface="Source Sans 3 ExtraBold"/>
              </a:rPr>
              <a:t>formation</a:t>
            </a:r>
            <a:r>
              <a:rPr lang="en" sz="1600">
                <a:solidFill>
                  <a:schemeClr val="dk1"/>
                </a:solidFill>
                <a:latin typeface="Source Sans 3 ExtraBold"/>
                <a:ea typeface="Source Sans 3 ExtraBold"/>
                <a:cs typeface="Source Sans 3 ExtraBold"/>
                <a:sym typeface="Source Sans 3 ExtraBold"/>
              </a:rPr>
              <a:t> histories </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Water mass identification offers clues to general ocean circulation</a:t>
            </a:r>
            <a:endParaRPr sz="1600">
              <a:solidFill>
                <a:schemeClr val="dk1"/>
              </a:solidFill>
              <a:latin typeface="Source Sans 3 ExtraBold"/>
              <a:ea typeface="Source Sans 3 ExtraBold"/>
              <a:cs typeface="Source Sans 3 ExtraBold"/>
              <a:sym typeface="Source Sans 3 ExtraBold"/>
            </a:endParaRPr>
          </a:p>
        </p:txBody>
      </p:sp>
      <p:sp>
        <p:nvSpPr>
          <p:cNvPr id="204" name="Google Shape;204;p25"/>
          <p:cNvSpPr txBox="1"/>
          <p:nvPr/>
        </p:nvSpPr>
        <p:spPr>
          <a:xfrm>
            <a:off x="5677825" y="4155325"/>
            <a:ext cx="25137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0000FF"/>
                </a:solidFill>
                <a:latin typeface="Source Sans 3 ExtraBold"/>
                <a:ea typeface="Source Sans 3 ExtraBold"/>
                <a:cs typeface="Source Sans 3 ExtraBold"/>
                <a:sym typeface="Source Sans 3 ExtraBold"/>
              </a:rPr>
              <a:t>Same salinity…different flavor of water!</a:t>
            </a:r>
            <a:endParaRPr sz="1600">
              <a:solidFill>
                <a:srgbClr val="0000FF"/>
              </a:solidFill>
              <a:latin typeface="Source Sans 3 ExtraBold"/>
              <a:ea typeface="Source Sans 3 ExtraBold"/>
              <a:cs typeface="Source Sans 3 ExtraBold"/>
              <a:sym typeface="Source Sans 3 ExtraBold"/>
            </a:endParaRPr>
          </a:p>
        </p:txBody>
      </p:sp>
      <p:sp>
        <p:nvSpPr>
          <p:cNvPr id="205" name="Google Shape;205;p25"/>
          <p:cNvSpPr/>
          <p:nvPr/>
        </p:nvSpPr>
        <p:spPr>
          <a:xfrm>
            <a:off x="1256350" y="1481450"/>
            <a:ext cx="172514" cy="727500"/>
          </a:xfrm>
          <a:custGeom>
            <a:avLst/>
            <a:gdLst/>
            <a:ahLst/>
            <a:cxnLst/>
            <a:rect l="l" t="t" r="r" b="b"/>
            <a:pathLst>
              <a:path w="14100" h="29100" extrusionOk="0">
                <a:moveTo>
                  <a:pt x="300" y="0"/>
                </a:moveTo>
                <a:lnTo>
                  <a:pt x="14100" y="0"/>
                </a:lnTo>
                <a:lnTo>
                  <a:pt x="14100" y="29100"/>
                </a:lnTo>
                <a:lnTo>
                  <a:pt x="0" y="29100"/>
                </a:lnTo>
              </a:path>
            </a:pathLst>
          </a:custGeom>
          <a:noFill/>
          <a:ln w="28575" cap="flat" cmpd="sng">
            <a:solidFill>
              <a:srgbClr val="0000FF"/>
            </a:solidFill>
            <a:prstDash val="solid"/>
            <a:round/>
            <a:headEnd type="none" w="med" len="med"/>
            <a:tailEnd type="none" w="med" len="med"/>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6"/>
          <p:cNvSpPr txBox="1"/>
          <p:nvPr/>
        </p:nvSpPr>
        <p:spPr>
          <a:xfrm>
            <a:off x="51275" y="0"/>
            <a:ext cx="6707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Aside: Ocean Circulation</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pic>
        <p:nvPicPr>
          <p:cNvPr id="211" name="Google Shape;211;p26"/>
          <p:cNvPicPr preferRelativeResize="0"/>
          <p:nvPr/>
        </p:nvPicPr>
        <p:blipFill>
          <a:blip r:embed="rId3">
            <a:alphaModFix/>
          </a:blip>
          <a:stretch>
            <a:fillRect/>
          </a:stretch>
        </p:blipFill>
        <p:spPr>
          <a:xfrm>
            <a:off x="6758675" y="115276"/>
            <a:ext cx="2225576" cy="3296198"/>
          </a:xfrm>
          <a:prstGeom prst="rect">
            <a:avLst/>
          </a:prstGeom>
          <a:noFill/>
          <a:ln>
            <a:noFill/>
          </a:ln>
        </p:spPr>
      </p:pic>
      <p:pic>
        <p:nvPicPr>
          <p:cNvPr id="212" name="Google Shape;212;p26" title="Screenshot 2026-09-14 at 12.48.26 AM.png"/>
          <p:cNvPicPr preferRelativeResize="0"/>
          <p:nvPr/>
        </p:nvPicPr>
        <p:blipFill rotWithShape="1">
          <a:blip r:embed="rId4">
            <a:alphaModFix/>
          </a:blip>
          <a:srcRect l="7254" t="3549" r="6798"/>
          <a:stretch/>
        </p:blipFill>
        <p:spPr>
          <a:xfrm>
            <a:off x="5365325" y="2712150"/>
            <a:ext cx="2478950" cy="1927523"/>
          </a:xfrm>
          <a:prstGeom prst="rect">
            <a:avLst/>
          </a:prstGeom>
          <a:noFill/>
          <a:ln>
            <a:noFill/>
          </a:ln>
        </p:spPr>
      </p:pic>
      <p:grpSp>
        <p:nvGrpSpPr>
          <p:cNvPr id="213" name="Google Shape;213;p26"/>
          <p:cNvGrpSpPr/>
          <p:nvPr/>
        </p:nvGrpSpPr>
        <p:grpSpPr>
          <a:xfrm>
            <a:off x="707999" y="1586368"/>
            <a:ext cx="4419663" cy="2547467"/>
            <a:chOff x="120636" y="554127"/>
            <a:chExt cx="3755024" cy="2164373"/>
          </a:xfrm>
        </p:grpSpPr>
        <p:grpSp>
          <p:nvGrpSpPr>
            <p:cNvPr id="214" name="Google Shape;214;p26"/>
            <p:cNvGrpSpPr/>
            <p:nvPr/>
          </p:nvGrpSpPr>
          <p:grpSpPr>
            <a:xfrm>
              <a:off x="120636" y="554127"/>
              <a:ext cx="3755024" cy="2164361"/>
              <a:chOff x="430200" y="1201375"/>
              <a:chExt cx="4755000" cy="2740738"/>
            </a:xfrm>
          </p:grpSpPr>
          <p:pic>
            <p:nvPicPr>
              <p:cNvPr id="215" name="Google Shape;215;p26"/>
              <p:cNvPicPr preferRelativeResize="0"/>
              <p:nvPr/>
            </p:nvPicPr>
            <p:blipFill rotWithShape="1">
              <a:blip r:embed="rId5">
                <a:alphaModFix/>
              </a:blip>
              <a:srcRect r="3251"/>
              <a:stretch/>
            </p:blipFill>
            <p:spPr>
              <a:xfrm>
                <a:off x="430200" y="1201387"/>
                <a:ext cx="4755000" cy="2740726"/>
              </a:xfrm>
              <a:prstGeom prst="rect">
                <a:avLst/>
              </a:prstGeom>
              <a:noFill/>
              <a:ln>
                <a:noFill/>
              </a:ln>
            </p:spPr>
          </p:pic>
          <p:sp>
            <p:nvSpPr>
              <p:cNvPr id="216" name="Google Shape;216;p26"/>
              <p:cNvSpPr/>
              <p:nvPr/>
            </p:nvSpPr>
            <p:spPr>
              <a:xfrm>
                <a:off x="5010600" y="1201375"/>
                <a:ext cx="174600" cy="301500"/>
              </a:xfrm>
              <a:prstGeom prst="rect">
                <a:avLst/>
              </a:prstGeom>
              <a:solidFill>
                <a:schemeClr val="lt1"/>
              </a:solidFill>
              <a:ln w="8850" cap="flat" cmpd="sng">
                <a:solidFill>
                  <a:schemeClr val="lt1"/>
                </a:solidFill>
                <a:prstDash val="solid"/>
                <a:round/>
                <a:headEnd type="none" w="sm" len="sm"/>
                <a:tailEnd type="none" w="sm" len="sm"/>
              </a:ln>
            </p:spPr>
            <p:txBody>
              <a:bodyPr spcFirstLastPara="1" wrap="square" lIns="84975" tIns="84975" rIns="84975" bIns="84975" anchor="ctr" anchorCtr="0">
                <a:noAutofit/>
              </a:bodyPr>
              <a:lstStyle/>
              <a:p>
                <a:pPr marL="0" lvl="0" indent="0" algn="ctr" rtl="0">
                  <a:spcBef>
                    <a:spcPts val="0"/>
                  </a:spcBef>
                  <a:spcAft>
                    <a:spcPts val="0"/>
                  </a:spcAft>
                  <a:buNone/>
                </a:pPr>
                <a:endParaRPr sz="1301"/>
              </a:p>
            </p:txBody>
          </p:sp>
        </p:grpSp>
        <p:sp>
          <p:nvSpPr>
            <p:cNvPr id="217" name="Google Shape;217;p26"/>
            <p:cNvSpPr/>
            <p:nvPr/>
          </p:nvSpPr>
          <p:spPr>
            <a:xfrm>
              <a:off x="326222" y="2480300"/>
              <a:ext cx="279000" cy="238200"/>
            </a:xfrm>
            <a:prstGeom prst="rect">
              <a:avLst/>
            </a:prstGeom>
            <a:solidFill>
              <a:schemeClr val="lt1"/>
            </a:solidFill>
            <a:ln w="8850" cap="flat" cmpd="sng">
              <a:solidFill>
                <a:schemeClr val="lt1"/>
              </a:solidFill>
              <a:prstDash val="solid"/>
              <a:round/>
              <a:headEnd type="none" w="sm" len="sm"/>
              <a:tailEnd type="none" w="sm" len="sm"/>
            </a:ln>
          </p:spPr>
          <p:txBody>
            <a:bodyPr spcFirstLastPara="1" wrap="square" lIns="84975" tIns="84975" rIns="84975" bIns="84975" anchor="ctr" anchorCtr="0">
              <a:noAutofit/>
            </a:bodyPr>
            <a:lstStyle/>
            <a:p>
              <a:pPr marL="0" lvl="0" indent="0" algn="ctr" rtl="0">
                <a:spcBef>
                  <a:spcPts val="0"/>
                </a:spcBef>
                <a:spcAft>
                  <a:spcPts val="0"/>
                </a:spcAft>
                <a:buNone/>
              </a:pPr>
              <a:endParaRPr sz="1301"/>
            </a:p>
          </p:txBody>
        </p:sp>
      </p:grpSp>
      <p:cxnSp>
        <p:nvCxnSpPr>
          <p:cNvPr id="218" name="Google Shape;218;p26"/>
          <p:cNvCxnSpPr/>
          <p:nvPr/>
        </p:nvCxnSpPr>
        <p:spPr>
          <a:xfrm>
            <a:off x="1192650" y="1369400"/>
            <a:ext cx="2905200" cy="0"/>
          </a:xfrm>
          <a:prstGeom prst="straightConnector1">
            <a:avLst/>
          </a:prstGeom>
          <a:noFill/>
          <a:ln w="19050" cap="flat" cmpd="sng">
            <a:solidFill>
              <a:schemeClr val="dk1"/>
            </a:solidFill>
            <a:prstDash val="solid"/>
            <a:round/>
            <a:headEnd type="triangle" w="med" len="med"/>
            <a:tailEnd type="triangle" w="med" len="med"/>
          </a:ln>
        </p:spPr>
      </p:cxnSp>
      <p:sp>
        <p:nvSpPr>
          <p:cNvPr id="219" name="Google Shape;219;p26"/>
          <p:cNvSpPr txBox="1"/>
          <p:nvPr/>
        </p:nvSpPr>
        <p:spPr>
          <a:xfrm>
            <a:off x="1574625" y="1155275"/>
            <a:ext cx="697500" cy="4311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a:solidFill>
                  <a:schemeClr val="dk1"/>
                </a:solidFill>
                <a:latin typeface="Source Sans 3 ExtraBold"/>
                <a:ea typeface="Source Sans 3 ExtraBold"/>
                <a:cs typeface="Source Sans 3 ExtraBold"/>
                <a:sym typeface="Source Sans 3 ExtraBold"/>
              </a:rPr>
              <a:t>Zonal</a:t>
            </a:r>
            <a:endParaRPr sz="1600" u="sng">
              <a:solidFill>
                <a:schemeClr val="dk1"/>
              </a:solidFill>
              <a:latin typeface="Source Sans 3 ExtraBold"/>
              <a:ea typeface="Source Sans 3 ExtraBold"/>
              <a:cs typeface="Source Sans 3 ExtraBold"/>
              <a:sym typeface="Source Sans 3 ExtraBold"/>
            </a:endParaRPr>
          </a:p>
        </p:txBody>
      </p:sp>
      <p:cxnSp>
        <p:nvCxnSpPr>
          <p:cNvPr id="220" name="Google Shape;220;p26"/>
          <p:cNvCxnSpPr/>
          <p:nvPr/>
        </p:nvCxnSpPr>
        <p:spPr>
          <a:xfrm>
            <a:off x="613200" y="1671025"/>
            <a:ext cx="0" cy="2429100"/>
          </a:xfrm>
          <a:prstGeom prst="straightConnector1">
            <a:avLst/>
          </a:prstGeom>
          <a:noFill/>
          <a:ln w="19050" cap="flat" cmpd="sng">
            <a:solidFill>
              <a:schemeClr val="dk1"/>
            </a:solidFill>
            <a:prstDash val="solid"/>
            <a:round/>
            <a:headEnd type="triangle" w="med" len="med"/>
            <a:tailEnd type="triangle" w="med" len="med"/>
          </a:ln>
        </p:spPr>
      </p:cxnSp>
      <p:sp>
        <p:nvSpPr>
          <p:cNvPr id="221" name="Google Shape;221;p26"/>
          <p:cNvSpPr txBox="1"/>
          <p:nvPr/>
        </p:nvSpPr>
        <p:spPr>
          <a:xfrm>
            <a:off x="153825" y="3411475"/>
            <a:ext cx="1181700" cy="4311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a:solidFill>
                  <a:schemeClr val="dk1"/>
                </a:solidFill>
                <a:latin typeface="Source Sans 3 ExtraBold"/>
                <a:ea typeface="Source Sans 3 ExtraBold"/>
                <a:cs typeface="Source Sans 3 ExtraBold"/>
                <a:sym typeface="Source Sans 3 ExtraBold"/>
              </a:rPr>
              <a:t>Meridional</a:t>
            </a:r>
            <a:endParaRPr sz="1600" u="sng">
              <a:solidFill>
                <a:schemeClr val="dk1"/>
              </a:solidFill>
              <a:latin typeface="Source Sans 3 ExtraBold"/>
              <a:ea typeface="Source Sans 3 ExtraBold"/>
              <a:cs typeface="Source Sans 3 ExtraBold"/>
              <a:sym typeface="Source Sans 3 ExtraBold"/>
            </a:endParaRPr>
          </a:p>
        </p:txBody>
      </p:sp>
      <p:sp>
        <p:nvSpPr>
          <p:cNvPr id="222" name="Google Shape;222;p26"/>
          <p:cNvSpPr txBox="1"/>
          <p:nvPr/>
        </p:nvSpPr>
        <p:spPr>
          <a:xfrm>
            <a:off x="5288400" y="4742450"/>
            <a:ext cx="3855600" cy="461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Clr>
                <a:srgbClr val="000000"/>
              </a:buClr>
              <a:buSzPts val="1500"/>
              <a:buFont typeface="Arial"/>
              <a:buNone/>
            </a:pPr>
            <a:r>
              <a:rPr lang="en" sz="600" b="1">
                <a:solidFill>
                  <a:schemeClr val="dk2"/>
                </a:solidFill>
              </a:rPr>
              <a:t>Fig credit: </a:t>
            </a:r>
            <a:r>
              <a:rPr lang="en" sz="600" b="1" u="sng">
                <a:solidFill>
                  <a:schemeClr val="hlink"/>
                </a:solidFill>
                <a:hlinkClick r:id="rId6"/>
              </a:rPr>
              <a:t>https://www.nytimes.com/interactive/2021/03/02/climate/atlantic-ocean-climate-change.html</a:t>
            </a:r>
            <a:endParaRPr sz="600" b="1">
              <a:solidFill>
                <a:srgbClr val="595959"/>
              </a:solidFill>
            </a:endParaRPr>
          </a:p>
          <a:p>
            <a:pPr marL="0" lvl="0" indent="0" algn="r" rtl="0">
              <a:spcBef>
                <a:spcPts val="0"/>
              </a:spcBef>
              <a:spcAft>
                <a:spcPts val="0"/>
              </a:spcAft>
              <a:buClr>
                <a:srgbClr val="000000"/>
              </a:buClr>
              <a:buSzPts val="1500"/>
              <a:buFont typeface="Arial"/>
              <a:buNone/>
            </a:pPr>
            <a:endParaRPr sz="600" b="1">
              <a:solidFill>
                <a:srgbClr val="595959"/>
              </a:solidFill>
            </a:endParaRPr>
          </a:p>
        </p:txBody>
      </p:sp>
      <p:sp>
        <p:nvSpPr>
          <p:cNvPr id="223" name="Google Shape;223;p26"/>
          <p:cNvSpPr txBox="1"/>
          <p:nvPr/>
        </p:nvSpPr>
        <p:spPr>
          <a:xfrm>
            <a:off x="1033575" y="4169825"/>
            <a:ext cx="1779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rgbClr val="000000"/>
              </a:buClr>
              <a:buSzPts val="1500"/>
              <a:buFont typeface="Arial"/>
              <a:buNone/>
            </a:pPr>
            <a:r>
              <a:rPr lang="en" sz="600" b="1">
                <a:solidFill>
                  <a:schemeClr val="dk2"/>
                </a:solidFill>
              </a:rPr>
              <a:t>Fig credit: SIO210 ‘Properties of Seawater I’</a:t>
            </a:r>
            <a:endParaRPr sz="600" b="1">
              <a:solidFill>
                <a:srgbClr val="59595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7"/>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EX. Water Masses Mixing</a:t>
            </a:r>
            <a:endParaRPr sz="2400" b="0" i="0" u="none" strike="noStrike" cap="none">
              <a:solidFill>
                <a:schemeClr val="dk1"/>
              </a:solidFill>
              <a:latin typeface="Source Serif 4 ExtraBold"/>
              <a:ea typeface="Source Serif 4 ExtraBold"/>
              <a:cs typeface="Source Serif 4 ExtraBold"/>
              <a:sym typeface="Source Serif 4 ExtraBold"/>
            </a:endParaRPr>
          </a:p>
        </p:txBody>
      </p:sp>
      <p:sp>
        <p:nvSpPr>
          <p:cNvPr id="229" name="Google Shape;229;p27"/>
          <p:cNvSpPr txBox="1"/>
          <p:nvPr/>
        </p:nvSpPr>
        <p:spPr>
          <a:xfrm>
            <a:off x="83133" y="554100"/>
            <a:ext cx="8801100" cy="204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Source Sans 3 ExtraBold"/>
                <a:ea typeface="Source Sans 3 ExtraBold"/>
                <a:cs typeface="Source Sans 3 ExtraBold"/>
                <a:sym typeface="Source Sans 3 ExtraBold"/>
              </a:rPr>
              <a:t>Two water masses meet and mix. You measure a sample of water with a temperature of 6°C and a salinity of 35.05 PSU. You know that the two water masses that mixed to form this sample have the following properties:</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100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Water Mass A: T = 4°C, S = 34.90 PSU</a:t>
            </a:r>
            <a:endParaRPr sz="1600">
              <a:solidFill>
                <a:schemeClr val="dk1"/>
              </a:solidFill>
              <a:latin typeface="Source Sans 3 ExtraBold"/>
              <a:ea typeface="Source Sans 3 ExtraBold"/>
              <a:cs typeface="Source Sans 3 ExtraBold"/>
              <a:sym typeface="Source Sans 3 ExtraBold"/>
            </a:endParaRPr>
          </a:p>
          <a:p>
            <a:pPr marL="457200" lvl="0" indent="-330200" algn="l" rtl="0">
              <a:spcBef>
                <a:spcPts val="1000"/>
              </a:spcBef>
              <a:spcAft>
                <a:spcPts val="0"/>
              </a:spcAft>
              <a:buClr>
                <a:schemeClr val="dk1"/>
              </a:buClr>
              <a:buSzPts val="1600"/>
              <a:buFont typeface="Source Sans 3 ExtraBold"/>
              <a:buChar char="●"/>
            </a:pPr>
            <a:r>
              <a:rPr lang="en" sz="1600">
                <a:solidFill>
                  <a:schemeClr val="dk1"/>
                </a:solidFill>
                <a:latin typeface="Source Sans 3 ExtraBold"/>
                <a:ea typeface="Source Sans 3 ExtraBold"/>
                <a:cs typeface="Source Sans 3 ExtraBold"/>
                <a:sym typeface="Source Sans 3 ExtraBold"/>
              </a:rPr>
              <a:t>Water Mass B: T = 12°C, S = 35.50 PSU</a:t>
            </a:r>
            <a:endParaRPr sz="1600">
              <a:solidFill>
                <a:schemeClr val="dk1"/>
              </a:solidFill>
              <a:latin typeface="Source Sans 3 ExtraBold"/>
              <a:ea typeface="Source Sans 3 ExtraBold"/>
              <a:cs typeface="Source Sans 3 ExtraBold"/>
              <a:sym typeface="Source Sans 3 ExtraBold"/>
            </a:endParaRPr>
          </a:p>
          <a:p>
            <a:pPr marL="0" marR="0" lvl="0" indent="0" algn="l" rtl="0">
              <a:lnSpc>
                <a:spcPct val="100000"/>
              </a:lnSpc>
              <a:spcBef>
                <a:spcPts val="1000"/>
              </a:spcBef>
              <a:spcAft>
                <a:spcPts val="1000"/>
              </a:spcAft>
              <a:buNone/>
            </a:pPr>
            <a:r>
              <a:rPr lang="en" sz="1600">
                <a:solidFill>
                  <a:schemeClr val="dk1"/>
                </a:solidFill>
                <a:latin typeface="Source Sans 3 ExtraBold"/>
                <a:ea typeface="Source Sans 3 ExtraBold"/>
                <a:cs typeface="Source Sans 3 ExtraBold"/>
                <a:sym typeface="Source Sans 3 ExtraBold"/>
              </a:rPr>
              <a:t>Question: What fraction of the sample came from water mass A?             </a:t>
            </a:r>
            <a:endParaRPr sz="1600">
              <a:solidFill>
                <a:schemeClr val="dk1"/>
              </a:solidFill>
              <a:latin typeface="Source Sans 3 ExtraBold"/>
              <a:ea typeface="Source Sans 3 ExtraBold"/>
              <a:cs typeface="Source Sans 3 ExtraBold"/>
              <a:sym typeface="Source Sans 3 ExtraBold"/>
            </a:endParaRPr>
          </a:p>
        </p:txBody>
      </p:sp>
      <p:pic>
        <p:nvPicPr>
          <p:cNvPr id="230" name="Google Shape;230;p27" title="ctd_rosette.jpg"/>
          <p:cNvPicPr preferRelativeResize="0"/>
          <p:nvPr/>
        </p:nvPicPr>
        <p:blipFill>
          <a:blip r:embed="rId3">
            <a:alphaModFix/>
          </a:blip>
          <a:stretch>
            <a:fillRect/>
          </a:stretch>
        </p:blipFill>
        <p:spPr>
          <a:xfrm>
            <a:off x="3080400" y="2706075"/>
            <a:ext cx="2983199" cy="2237399"/>
          </a:xfrm>
          <a:prstGeom prst="rect">
            <a:avLst/>
          </a:prstGeom>
          <a:noFill/>
          <a:ln>
            <a:noFill/>
          </a:ln>
        </p:spPr>
      </p:pic>
      <p:sp>
        <p:nvSpPr>
          <p:cNvPr id="231" name="Google Shape;231;p27"/>
          <p:cNvSpPr txBox="1"/>
          <p:nvPr/>
        </p:nvSpPr>
        <p:spPr>
          <a:xfrm>
            <a:off x="6081813" y="4653550"/>
            <a:ext cx="794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rgbClr val="000000"/>
              </a:buClr>
              <a:buSzPts val="1500"/>
              <a:buFont typeface="Arial"/>
              <a:buNone/>
            </a:pPr>
            <a:r>
              <a:rPr lang="en" sz="600" b="1">
                <a:solidFill>
                  <a:schemeClr val="dk2"/>
                </a:solidFill>
              </a:rPr>
              <a:t>Fig credit: </a:t>
            </a:r>
            <a:endParaRPr sz="600" b="1">
              <a:solidFill>
                <a:schemeClr val="dk2"/>
              </a:solidFill>
            </a:endParaRPr>
          </a:p>
          <a:p>
            <a:pPr marL="0" lvl="0" indent="0" algn="l" rtl="0">
              <a:spcBef>
                <a:spcPts val="0"/>
              </a:spcBef>
              <a:spcAft>
                <a:spcPts val="0"/>
              </a:spcAft>
              <a:buClr>
                <a:srgbClr val="000000"/>
              </a:buClr>
              <a:buSzPts val="1500"/>
              <a:buFont typeface="Arial"/>
              <a:buNone/>
            </a:pPr>
            <a:r>
              <a:rPr lang="en" sz="600" b="1">
                <a:solidFill>
                  <a:schemeClr val="dk2"/>
                </a:solidFill>
              </a:rPr>
              <a:t>Tommy Stone</a:t>
            </a:r>
            <a:endParaRPr sz="600" b="1">
              <a:solidFill>
                <a:srgbClr val="595959"/>
              </a:solidFill>
            </a:endParaRPr>
          </a:p>
        </p:txBody>
      </p:sp>
      <p:sp>
        <p:nvSpPr>
          <p:cNvPr id="232" name="Google Shape;232;p27"/>
          <p:cNvSpPr txBox="1"/>
          <p:nvPr/>
        </p:nvSpPr>
        <p:spPr>
          <a:xfrm>
            <a:off x="757050" y="3134200"/>
            <a:ext cx="1967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0000FF"/>
                </a:solidFill>
                <a:latin typeface="Source Sans 3 ExtraBold"/>
                <a:ea typeface="Source Sans 3 ExtraBold"/>
                <a:cs typeface="Source Sans 3 ExtraBold"/>
                <a:sym typeface="Source Sans 3 ExtraBold"/>
              </a:rPr>
              <a:t>CTD Rosette and Niskin Bottles</a:t>
            </a:r>
            <a:endParaRPr sz="1600">
              <a:solidFill>
                <a:srgbClr val="0000FF"/>
              </a:solidFill>
              <a:latin typeface="Source Sans 3 ExtraBold"/>
              <a:ea typeface="Source Sans 3 ExtraBold"/>
              <a:cs typeface="Source Sans 3 ExtraBold"/>
              <a:sym typeface="Source Sans 3 ExtraBold"/>
            </a:endParaRPr>
          </a:p>
        </p:txBody>
      </p:sp>
      <p:cxnSp>
        <p:nvCxnSpPr>
          <p:cNvPr id="233" name="Google Shape;233;p27"/>
          <p:cNvCxnSpPr/>
          <p:nvPr/>
        </p:nvCxnSpPr>
        <p:spPr>
          <a:xfrm>
            <a:off x="2422950" y="3631600"/>
            <a:ext cx="1492200" cy="468300"/>
          </a:xfrm>
          <a:prstGeom prst="straightConnector1">
            <a:avLst/>
          </a:prstGeom>
          <a:noFill/>
          <a:ln w="19050" cap="flat" cmpd="sng">
            <a:solidFill>
              <a:srgbClr val="0000FF"/>
            </a:solidFill>
            <a:prstDash val="solid"/>
            <a:round/>
            <a:headEnd type="none" w="med" len="med"/>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38" name="Google Shape;238;p28" title="Screenshot 2026-09-14 at 6.09.49 AM.png"/>
          <p:cNvPicPr preferRelativeResize="0"/>
          <p:nvPr/>
        </p:nvPicPr>
        <p:blipFill>
          <a:blip r:embed="rId3">
            <a:alphaModFix/>
          </a:blip>
          <a:stretch>
            <a:fillRect/>
          </a:stretch>
        </p:blipFill>
        <p:spPr>
          <a:xfrm>
            <a:off x="1182475" y="1306024"/>
            <a:ext cx="6779048" cy="1696526"/>
          </a:xfrm>
          <a:prstGeom prst="rect">
            <a:avLst/>
          </a:prstGeom>
          <a:noFill/>
          <a:ln>
            <a:noFill/>
          </a:ln>
        </p:spPr>
      </p:pic>
      <p:sp>
        <p:nvSpPr>
          <p:cNvPr id="239" name="Google Shape;239;p28"/>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EX. Water Masses Mixing</a:t>
            </a:r>
            <a:endParaRPr sz="2400">
              <a:solidFill>
                <a:schemeClr val="dk1"/>
              </a:solidFill>
              <a:latin typeface="Source Serif 4 ExtraBold"/>
              <a:ea typeface="Source Serif 4 ExtraBold"/>
              <a:cs typeface="Source Serif 4 ExtraBold"/>
              <a:sym typeface="Source Serif 4 ExtraBold"/>
            </a:endParaRPr>
          </a:p>
        </p:txBody>
      </p:sp>
      <p:sp>
        <p:nvSpPr>
          <p:cNvPr id="240" name="Google Shape;240;p28"/>
          <p:cNvSpPr txBox="1"/>
          <p:nvPr/>
        </p:nvSpPr>
        <p:spPr>
          <a:xfrm>
            <a:off x="83133" y="554100"/>
            <a:ext cx="8801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r>
              <a:rPr lang="en" sz="1600">
                <a:solidFill>
                  <a:schemeClr val="dk1"/>
                </a:solidFill>
                <a:latin typeface="Source Sans 3 ExtraBold"/>
                <a:ea typeface="Source Sans 3 ExtraBold"/>
                <a:cs typeface="Source Sans 3 ExtraBold"/>
                <a:sym typeface="Source Sans 3 ExtraBold"/>
              </a:rPr>
              <a:t>Question: What fraction of the sample came from water mass A?             </a:t>
            </a:r>
            <a:endParaRPr sz="1600">
              <a:solidFill>
                <a:schemeClr val="dk1"/>
              </a:solidFill>
              <a:latin typeface="Source Sans 3 ExtraBold"/>
              <a:ea typeface="Source Sans 3 ExtraBold"/>
              <a:cs typeface="Source Sans 3 ExtraBold"/>
              <a:sym typeface="Source Sans 3 ExtraBold"/>
            </a:endParaRPr>
          </a:p>
        </p:txBody>
      </p:sp>
      <p:sp>
        <p:nvSpPr>
          <p:cNvPr id="241" name="Google Shape;241;p28"/>
          <p:cNvSpPr txBox="1"/>
          <p:nvPr/>
        </p:nvSpPr>
        <p:spPr>
          <a:xfrm>
            <a:off x="171458" y="3270325"/>
            <a:ext cx="8801100" cy="155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i="1">
                <a:solidFill>
                  <a:schemeClr val="dk1"/>
                </a:solidFill>
                <a:latin typeface="Source Sans 3 ExtraBold"/>
                <a:ea typeface="Source Sans 3 ExtraBold"/>
                <a:cs typeface="Source Sans 3 ExtraBold"/>
                <a:sym typeface="Source Sans 3 ExtraBold"/>
              </a:rPr>
              <a:t>Hint: If a fraction 𝛾</a:t>
            </a:r>
            <a:r>
              <a:rPr lang="en" sz="1600" i="1" baseline="-25000">
                <a:solidFill>
                  <a:schemeClr val="dk1"/>
                </a:solidFill>
                <a:latin typeface="Source Sans 3 ExtraBold"/>
                <a:ea typeface="Source Sans 3 ExtraBold"/>
                <a:cs typeface="Source Sans 3 ExtraBold"/>
                <a:sym typeface="Source Sans 3 ExtraBold"/>
              </a:rPr>
              <a:t>A</a:t>
            </a:r>
            <a:r>
              <a:rPr lang="en" sz="1600" i="1">
                <a:solidFill>
                  <a:schemeClr val="dk1"/>
                </a:solidFill>
                <a:latin typeface="Source Sans 3 ExtraBold"/>
                <a:ea typeface="Source Sans 3 ExtraBold"/>
                <a:cs typeface="Source Sans 3 ExtraBold"/>
                <a:sym typeface="Source Sans 3 ExtraBold"/>
              </a:rPr>
              <a:t> came from water mass A, then:</a:t>
            </a:r>
            <a:endParaRPr sz="1600" i="1">
              <a:solidFill>
                <a:schemeClr val="dk1"/>
              </a:solidFill>
              <a:latin typeface="Source Sans 3 ExtraBold"/>
              <a:ea typeface="Source Sans 3 ExtraBold"/>
              <a:cs typeface="Source Sans 3 ExtraBold"/>
              <a:sym typeface="Source Sans 3 ExtraBold"/>
            </a:endParaRPr>
          </a:p>
          <a:p>
            <a:pPr marL="0" lvl="0" indent="0" algn="l" rtl="0">
              <a:spcBef>
                <a:spcPts val="1000"/>
              </a:spcBef>
              <a:spcAft>
                <a:spcPts val="0"/>
              </a:spcAft>
              <a:buNone/>
            </a:pPr>
            <a:endParaRPr sz="1600" i="1">
              <a:solidFill>
                <a:schemeClr val="dk1"/>
              </a:solidFill>
              <a:latin typeface="Source Sans 3 ExtraBold"/>
              <a:ea typeface="Source Sans 3 ExtraBold"/>
              <a:cs typeface="Source Sans 3 ExtraBold"/>
              <a:sym typeface="Source Sans 3 ExtraBold"/>
            </a:endParaRPr>
          </a:p>
          <a:p>
            <a:pPr marL="0" lvl="0" indent="0" algn="l" rtl="0">
              <a:spcBef>
                <a:spcPts val="1000"/>
              </a:spcBef>
              <a:spcAft>
                <a:spcPts val="0"/>
              </a:spcAft>
              <a:buClr>
                <a:schemeClr val="dk1"/>
              </a:buClr>
              <a:buSzPts val="1100"/>
              <a:buFont typeface="Arial"/>
              <a:buNone/>
            </a:pPr>
            <a:r>
              <a:rPr lang="en" sz="1600" i="1">
                <a:solidFill>
                  <a:schemeClr val="dk1"/>
                </a:solidFill>
                <a:latin typeface="Source Sans 3 ExtraBold"/>
                <a:ea typeface="Source Sans 3 ExtraBold"/>
                <a:cs typeface="Source Sans 3 ExtraBold"/>
                <a:sym typeface="Source Sans 3 ExtraBold"/>
              </a:rPr>
              <a:t>You can write an analogous equation for S (but don't need to, for the purposes of this problem)!</a:t>
            </a:r>
            <a:endParaRPr sz="1600" i="1">
              <a:solidFill>
                <a:schemeClr val="dk1"/>
              </a:solidFill>
              <a:latin typeface="Source Sans 3 ExtraBold"/>
              <a:ea typeface="Source Sans 3 ExtraBold"/>
              <a:cs typeface="Source Sans 3 ExtraBold"/>
              <a:sym typeface="Source Sans 3 ExtraBold"/>
            </a:endParaRPr>
          </a:p>
          <a:p>
            <a:pPr marL="0" lvl="0" indent="0" algn="l" rtl="0">
              <a:spcBef>
                <a:spcPts val="1000"/>
              </a:spcBef>
              <a:spcAft>
                <a:spcPts val="1000"/>
              </a:spcAft>
              <a:buNone/>
            </a:pPr>
            <a:endParaRPr sz="1600" i="1">
              <a:solidFill>
                <a:schemeClr val="dk1"/>
              </a:solidFill>
              <a:latin typeface="Source Sans 3 ExtraBold"/>
              <a:ea typeface="Source Sans 3 ExtraBold"/>
              <a:cs typeface="Source Sans 3 ExtraBold"/>
              <a:sym typeface="Source Sans 3 ExtraBold"/>
            </a:endParaRPr>
          </a:p>
        </p:txBody>
      </p:sp>
      <p:pic>
        <p:nvPicPr>
          <p:cNvPr id="242" name="Google Shape;242;p28" title="Screenshot 2026-09-14 at 6.25.38 AM.png"/>
          <p:cNvPicPr preferRelativeResize="0"/>
          <p:nvPr/>
        </p:nvPicPr>
        <p:blipFill>
          <a:blip r:embed="rId4">
            <a:alphaModFix/>
          </a:blip>
          <a:stretch>
            <a:fillRect/>
          </a:stretch>
        </p:blipFill>
        <p:spPr>
          <a:xfrm>
            <a:off x="4796275" y="3323363"/>
            <a:ext cx="3609400" cy="369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9"/>
          <p:cNvSpPr txBox="1"/>
          <p:nvPr/>
        </p:nvSpPr>
        <p:spPr>
          <a:xfrm>
            <a:off x="83131" y="0"/>
            <a:ext cx="5006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2800"/>
              <a:buFont typeface="Arial"/>
              <a:buNone/>
            </a:pPr>
            <a:r>
              <a:rPr lang="en" sz="2400">
                <a:solidFill>
                  <a:schemeClr val="dk1"/>
                </a:solidFill>
                <a:latin typeface="Source Serif 4 ExtraBold"/>
                <a:ea typeface="Source Serif 4 ExtraBold"/>
                <a:cs typeface="Source Serif 4 ExtraBold"/>
                <a:sym typeface="Source Serif 4 ExtraBold"/>
              </a:rPr>
              <a:t>EX. Water Masses Mixing</a:t>
            </a:r>
            <a:endParaRPr sz="2400">
              <a:solidFill>
                <a:schemeClr val="dk1"/>
              </a:solidFill>
              <a:latin typeface="Source Serif 4 ExtraBold"/>
              <a:ea typeface="Source Serif 4 ExtraBold"/>
              <a:cs typeface="Source Serif 4 ExtraBold"/>
              <a:sym typeface="Source Serif 4 ExtraBold"/>
            </a:endParaRPr>
          </a:p>
        </p:txBody>
      </p:sp>
      <p:sp>
        <p:nvSpPr>
          <p:cNvPr id="248" name="Google Shape;248;p29"/>
          <p:cNvSpPr txBox="1"/>
          <p:nvPr/>
        </p:nvSpPr>
        <p:spPr>
          <a:xfrm>
            <a:off x="83133" y="554100"/>
            <a:ext cx="8801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r>
              <a:rPr lang="en" sz="1600">
                <a:solidFill>
                  <a:schemeClr val="dk1"/>
                </a:solidFill>
                <a:latin typeface="Source Sans 3 ExtraBold"/>
                <a:ea typeface="Source Sans 3 ExtraBold"/>
                <a:cs typeface="Source Sans 3 ExtraBold"/>
                <a:sym typeface="Source Sans 3 ExtraBold"/>
              </a:rPr>
              <a:t>Question: What fraction of the sample came from water mass A?             </a:t>
            </a:r>
            <a:endParaRPr sz="1600">
              <a:solidFill>
                <a:schemeClr val="dk1"/>
              </a:solidFill>
              <a:latin typeface="Source Sans 3 ExtraBold"/>
              <a:ea typeface="Source Sans 3 ExtraBold"/>
              <a:cs typeface="Source Sans 3 ExtraBold"/>
              <a:sym typeface="Source Sans 3 ExtraBold"/>
            </a:endParaRPr>
          </a:p>
        </p:txBody>
      </p:sp>
      <p:pic>
        <p:nvPicPr>
          <p:cNvPr id="249" name="Google Shape;249;p29" title="Screenshot 2026-09-14 at 6.20.50 AM.png"/>
          <p:cNvPicPr preferRelativeResize="0"/>
          <p:nvPr/>
        </p:nvPicPr>
        <p:blipFill rotWithShape="1">
          <a:blip r:embed="rId3">
            <a:alphaModFix/>
          </a:blip>
          <a:srcRect t="2017" r="16722" b="29160"/>
          <a:stretch/>
        </p:blipFill>
        <p:spPr>
          <a:xfrm>
            <a:off x="357624" y="1463524"/>
            <a:ext cx="4304010" cy="2066673"/>
          </a:xfrm>
          <a:prstGeom prst="rect">
            <a:avLst/>
          </a:prstGeom>
          <a:noFill/>
          <a:ln>
            <a:noFill/>
          </a:ln>
        </p:spPr>
      </p:pic>
      <p:pic>
        <p:nvPicPr>
          <p:cNvPr id="250" name="Google Shape;250;p29" title="Screenshot 2026-09-14 at 6.21.09 AM.png"/>
          <p:cNvPicPr preferRelativeResize="0"/>
          <p:nvPr/>
        </p:nvPicPr>
        <p:blipFill rotWithShape="1">
          <a:blip r:embed="rId4">
            <a:alphaModFix/>
          </a:blip>
          <a:srcRect t="1826" r="29068" b="27657"/>
          <a:stretch/>
        </p:blipFill>
        <p:spPr>
          <a:xfrm>
            <a:off x="5025358" y="1463524"/>
            <a:ext cx="3761014" cy="2066661"/>
          </a:xfrm>
          <a:prstGeom prst="rect">
            <a:avLst/>
          </a:prstGeom>
          <a:noFill/>
          <a:ln>
            <a:noFill/>
          </a:ln>
        </p:spPr>
      </p:pic>
      <p:sp>
        <p:nvSpPr>
          <p:cNvPr id="251" name="Google Shape;251;p29"/>
          <p:cNvSpPr txBox="1"/>
          <p:nvPr/>
        </p:nvSpPr>
        <p:spPr>
          <a:xfrm>
            <a:off x="171458" y="4008500"/>
            <a:ext cx="8801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r>
              <a:rPr lang="en" sz="1600">
                <a:solidFill>
                  <a:schemeClr val="dk1"/>
                </a:solidFill>
                <a:latin typeface="Source Sans 3 ExtraBold"/>
                <a:ea typeface="Source Sans 3 ExtraBold"/>
                <a:cs typeface="Source Sans 3 ExtraBold"/>
                <a:sym typeface="Source Sans 3 ExtraBold"/>
              </a:rPr>
              <a:t>Graphical solutions confirm that this problem is over constrained (i.e. two equations, but only one unknown), but exactly determined (i.e. solving both equations yields the same solution)</a:t>
            </a:r>
            <a:endParaRPr sz="1600">
              <a:solidFill>
                <a:schemeClr val="dk1"/>
              </a:solidFill>
              <a:latin typeface="Source Sans 3 ExtraBold"/>
              <a:ea typeface="Source Sans 3 ExtraBold"/>
              <a:cs typeface="Source Sans 3 ExtraBold"/>
              <a:sym typeface="Source Sans 3 ExtraBo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723</Words>
  <Application>Microsoft Macintosh PowerPoint</Application>
  <PresentationFormat>On-screen Show (16:9)</PresentationFormat>
  <Paragraphs>83</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Source Serif 4 ExtraBold</vt:lpstr>
      <vt:lpstr>Source Sans 3</vt:lpstr>
      <vt:lpstr>Source Sans 3 ExtraBold</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Eilis Boudreau</cp:lastModifiedBy>
  <cp:revision>1</cp:revision>
  <dcterms:modified xsi:type="dcterms:W3CDTF">2026-09-20T21:09:42Z</dcterms:modified>
</cp:coreProperties>
</file>